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13903258424371" /><Relationship Type="http://schemas.openxmlformats.org/officeDocument/2006/relationships/extended-properties" Target="/docProps/app.xml" Id="Rc0d7109959064437" /><Relationship Type="http://schemas.openxmlformats.org/officeDocument/2006/relationships/officeDocument" Target="/ppt/presentation.xml" Id="R471aee7ea9c549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a1192707214673"/>
  </p:sldMasterIdLst>
  <p:notesMasterIdLst>
    <p:notesMasterId xmlns:r="http://schemas.openxmlformats.org/officeDocument/2006/relationships" r:id="Rc877093eef104cfc"/>
  </p:notesMasterIdLst>
  <p:sldIdLst>
    <p:sldId xmlns:r="http://schemas.openxmlformats.org/officeDocument/2006/relationships" id="256" r:id="R3175a2fc31f84a6f"/>
    <p:sldId xmlns:r="http://schemas.openxmlformats.org/officeDocument/2006/relationships" id="257" r:id="R56d06025bd7547dd"/>
    <p:sldId xmlns:r="http://schemas.openxmlformats.org/officeDocument/2006/relationships" id="258" r:id="Rc2c1e8910a214857"/>
    <p:sldId xmlns:r="http://schemas.openxmlformats.org/officeDocument/2006/relationships" id="259" r:id="Rd63595ec75404952"/>
    <p:sldId xmlns:r="http://schemas.openxmlformats.org/officeDocument/2006/relationships" id="260" r:id="R4dd8dc48d36e4bf2"/>
    <p:sldId xmlns:r="http://schemas.openxmlformats.org/officeDocument/2006/relationships" id="261" r:id="Rd091cbae3de94a62"/>
    <p:sldId xmlns:r="http://schemas.openxmlformats.org/officeDocument/2006/relationships" id="262" r:id="R9761e0b10ac54533"/>
    <p:sldId xmlns:r="http://schemas.openxmlformats.org/officeDocument/2006/relationships" id="263" r:id="R2f0ec5af472d4f71"/>
    <p:sldId xmlns:r="http://schemas.openxmlformats.org/officeDocument/2006/relationships" id="264" r:id="R565bf76bdf4d4f6b"/>
    <p:sldId xmlns:r="http://schemas.openxmlformats.org/officeDocument/2006/relationships" id="265" r:id="R6a2724c4672646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2c228c3b8944f2" /><Relationship Type="http://schemas.openxmlformats.org/officeDocument/2006/relationships/slideMaster" Target="/ppt/slideMasters/slideMaster1.xml" Id="R6aa1192707214673" /><Relationship Type="http://schemas.openxmlformats.org/officeDocument/2006/relationships/notesMaster" Target="/ppt/notesMasters/notesMaster1.xml" Id="Rc877093eef104cfc" /><Relationship Type="http://schemas.openxmlformats.org/officeDocument/2006/relationships/presProps" Target="/ppt/presProps.xml" Id="R327b96b7ddc44aa7" /><Relationship Type="http://schemas.openxmlformats.org/officeDocument/2006/relationships/tableStyles" Target="/ppt/tableStyles.xml" Id="R462ab3b83dff46b0" /><Relationship Type="http://schemas.openxmlformats.org/officeDocument/2006/relationships/slide" Target="/ppt/slides/slide1.xml" Id="R3175a2fc31f84a6f" /><Relationship Type="http://schemas.openxmlformats.org/officeDocument/2006/relationships/slide" Target="/ppt/slides/slide2.xml" Id="R56d06025bd7547dd" /><Relationship Type="http://schemas.openxmlformats.org/officeDocument/2006/relationships/slide" Target="/ppt/slides/slide3.xml" Id="Rc2c1e8910a214857" /><Relationship Type="http://schemas.openxmlformats.org/officeDocument/2006/relationships/slide" Target="/ppt/slides/slide4.xml" Id="Rd63595ec75404952" /><Relationship Type="http://schemas.openxmlformats.org/officeDocument/2006/relationships/slide" Target="/ppt/slides/slide5.xml" Id="R4dd8dc48d36e4bf2" /><Relationship Type="http://schemas.openxmlformats.org/officeDocument/2006/relationships/slide" Target="/ppt/slides/slide6.xml" Id="Rd091cbae3de94a62" /><Relationship Type="http://schemas.openxmlformats.org/officeDocument/2006/relationships/slide" Target="/ppt/slides/slide7.xml" Id="R9761e0b10ac54533" /><Relationship Type="http://schemas.openxmlformats.org/officeDocument/2006/relationships/slide" Target="/ppt/slides/slide8.xml" Id="R2f0ec5af472d4f71" /><Relationship Type="http://schemas.openxmlformats.org/officeDocument/2006/relationships/slide" Target="/ppt/slides/slide9.xml" Id="R565bf76bdf4d4f6b" /><Relationship Type="http://schemas.openxmlformats.org/officeDocument/2006/relationships/slide" Target="/ppt/slides/slide10.xml" Id="R6a2724c4672646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01e33af9f44a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303beff2d4416e" /><Relationship Type="http://schemas.openxmlformats.org/officeDocument/2006/relationships/notesMaster" Target="/ppt/notesMasters/notesMaster1.xml" Id="R63f34cda1a6f42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552c4c05f6466e" /><Relationship Type="http://schemas.openxmlformats.org/officeDocument/2006/relationships/notesMaster" Target="/ppt/notesMasters/notesMaster1.xml" Id="Rbab2e2bd8ae04f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7db8ad6b684ac6" /><Relationship Type="http://schemas.openxmlformats.org/officeDocument/2006/relationships/notesMaster" Target="/ppt/notesMasters/notesMaster1.xml" Id="R79fae409a53342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876089b56647fc" /><Relationship Type="http://schemas.openxmlformats.org/officeDocument/2006/relationships/notesMaster" Target="/ppt/notesMasters/notesMaster1.xml" Id="Re6e7631c57324a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7307204fcc4c98" /><Relationship Type="http://schemas.openxmlformats.org/officeDocument/2006/relationships/notesMaster" Target="/ppt/notesMasters/notesMaster1.xml" Id="Raf75df56749f4d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5c584565b3441f" /><Relationship Type="http://schemas.openxmlformats.org/officeDocument/2006/relationships/notesMaster" Target="/ppt/notesMasters/notesMaster1.xml" Id="R774f41c0bc094c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654b6ecb854dbf" /><Relationship Type="http://schemas.openxmlformats.org/officeDocument/2006/relationships/notesMaster" Target="/ppt/notesMasters/notesMaster1.xml" Id="R03f82692176c49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be7dae34ae4d16" /><Relationship Type="http://schemas.openxmlformats.org/officeDocument/2006/relationships/notesMaster" Target="/ppt/notesMasters/notesMaster1.xml" Id="Rf5c8d20c19c54f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4172f3cf484245" /><Relationship Type="http://schemas.openxmlformats.org/officeDocument/2006/relationships/notesMaster" Target="/ppt/notesMasters/notesMaster1.xml" Id="Rfb340bf120d649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b09cc049084d29" /><Relationship Type="http://schemas.openxmlformats.org/officeDocument/2006/relationships/notesMaster" Target="/ppt/notesMasters/notesMaster1.xml" Id="Ra2ea69ecc24a42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Работающий прототип в репозитории https://github.com/aerade/product2. Все скриншоты сняты с локального приложения. Иллюстрации созданы встроенным imagegen. Видео демо озвучены синтетическим голосом и помечены как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Описание пользовательского сценария из plan_videolectures.md. Это формулировка проблемы, а не количественная оценка аудитории.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Реальный экран каталога. На проверочной установке четыре локальные мини-лекции и одна импортированная YouTube-лекция. При новом seed доступны только четыре собственных демо-видео.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Проверено на реальной multilingual-e5-small ONNX. Первый результат demo-pythagoras, start_seconds=53.95. Это единичная функциональная проверка, не измерение качества на бенчмарке.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браузере подтверждён currentTime=53.95 после перехода из поиска. Подсветка строки следует за воспроизведением, отдельный переключатель отключает автопрокрутку. Для YouTube проверены воспроизведение и переход к 9:08 через официальный IFrame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Реальный запрос к подключённому серверному API AI STAR, модель claude-haiku-4-5. Ключ хранится только в локальном .env и не входит в презентацию или репозиторий. Вопрос о выпечке хлеба получил mode=insufficient. Генерация может ошибаться, поэтому ссылки на источник остаются доступными.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созданной заметки зрителя на 53.95 секунде. API проверяет владельца каждой заметки и закладки. Администратор не получает доступ к чужим личным заметкам.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Новая регистрация всегда viewer. Первый admin создаётся отдельной CLI-командой. Отдельные проверки запрещают viewer загружать, teacher менять чужие лекции и любому пользователю менять чужую заметку. Повторное одобрение ссылки идемпотентно.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Очередь хранится в SQLite, worker использует lease и heartbeat. Файлы локальны. Эмбеддинги исполняются на CPU и хранятся как float32. Модель речи faster-whisper base. Генерация подключается через переменные окружения. При большом каталоге нужен переход на PostgreSQL и векторную БД.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34 pytest прошли на Windows, production build React/TypeScript прошёл. Реальное распознавание 20-секундного ролика дало 4 сегмента, YouTube aircAruvnKk импортирован с 286 сегментами. Проверены широкий и мобильный интерфейсы, вход viewer, закладка и личная заметка. Docker-конфигурация подготовлена, контейнерный запуск не проверен в этой среде. Источник результатов: docs/verification.md.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162a3fea6c49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2b122a3184e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c742986ea044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19e92a06f4c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5b596cb1041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7d69976fe547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705D26-F079-4CD6-B113-B41395F307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7827E1-D46F-4D50-A9D1-CE8A217BF9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6A4C3F-F4D2-4A82-A445-826F75FEA5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254947-E729-4F46-999C-A2BB7BA8EF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F2A68D-51B3-4604-B4CB-8AD8B50924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2F12F4-880A-4541-863C-BFC084A27B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363F85-5B85-4324-AD41-E0B9BE63C3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E80059-AAB2-41E2-A913-E07A058079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B3DC13-41A9-4B58-A835-FC3464391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9D8738-8E4E-4C23-92D4-7F44D57C43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f6de863fc9483f" /><Relationship Type="http://schemas.openxmlformats.org/officeDocument/2006/relationships/slideLayout" Target="/ppt/slideLayouts/slideLayout1.xml" Id="Rb7ff9a74813a4866" /><Relationship Type="http://schemas.openxmlformats.org/officeDocument/2006/relationships/slideLayout" Target="/ppt/slideLayouts/slideLayout2.xml" Id="R5601d414069e4773" /><Relationship Type="http://schemas.openxmlformats.org/officeDocument/2006/relationships/slideLayout" Target="/ppt/slideLayouts/slideLayout3.xml" Id="Rd76c70b48bb84bb9" /><Relationship Type="http://schemas.openxmlformats.org/officeDocument/2006/relationships/slideLayout" Target="/ppt/slideLayouts/slideLayout4.xml" Id="R865a0a0f24c34834" /><Relationship Type="http://schemas.openxmlformats.org/officeDocument/2006/relationships/slideLayout" Target="/ppt/slideLayouts/slideLayout5.xml" Id="Re7a32b09bd8d4ee6" /><Relationship Type="http://schemas.openxmlformats.org/officeDocument/2006/relationships/slideLayout" Target="/ppt/slideLayouts/slideLayout6.xml" Id="R782f9be4430347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ff9a74813a4866"/>
    <p:sldLayoutId xmlns:r="http://schemas.openxmlformats.org/officeDocument/2006/relationships" id="2147483650" r:id="R5601d414069e4773"/>
    <p:sldLayoutId xmlns:r="http://schemas.openxmlformats.org/officeDocument/2006/relationships" id="2147483651" r:id="Rd76c70b48bb84bb9"/>
    <p:sldLayoutId xmlns:r="http://schemas.openxmlformats.org/officeDocument/2006/relationships" id="2147483652" r:id="R865a0a0f24c34834"/>
    <p:sldLayoutId xmlns:r="http://schemas.openxmlformats.org/officeDocument/2006/relationships" id="2147483653" r:id="Re7a32b09bd8d4ee6"/>
    <p:sldLayoutId xmlns:r="http://schemas.openxmlformats.org/officeDocument/2006/relationships" id="2147483654" r:id="R782f9be4430347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d0e2aa5a714b54" /><Relationship Type="http://schemas.openxmlformats.org/officeDocument/2006/relationships/image" Target="/ppt/media/image.bin" Id="R2b288e88bd424b0f" /><Relationship Type="http://schemas.openxmlformats.org/officeDocument/2006/relationships/notesSlide" Target="/ppt/notesSlides/notesSlide1.xml" Id="R56c5060c6fb646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0614010ef448dc" /><Relationship Type="http://schemas.openxmlformats.org/officeDocument/2006/relationships/image" Target="/ppt/media/image2.bin" Id="R03be5cb301224525" /><Relationship Type="http://schemas.openxmlformats.org/officeDocument/2006/relationships/notesSlide" Target="/ppt/notesSlides/notesSlide2.xml" Id="R844610ad439243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bab3f5abe498b" /><Relationship Type="http://schemas.openxmlformats.org/officeDocument/2006/relationships/image" Target="/ppt/media/image.jpeg" Id="Rdfb33b3fbcad4f2b" /><Relationship Type="http://schemas.openxmlformats.org/officeDocument/2006/relationships/notesSlide" Target="/ppt/notesSlides/notesSlide3.xml" Id="R1012c1c2c0fb49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9802a5ce8040dc" /><Relationship Type="http://schemas.openxmlformats.org/officeDocument/2006/relationships/image" Target="/ppt/media/image2.jpeg" Id="R91082c8d7e8e4eae" /><Relationship Type="http://schemas.openxmlformats.org/officeDocument/2006/relationships/notesSlide" Target="/ppt/notesSlides/notesSlide4.xml" Id="Rdddb7978e3434f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b27dd9700b4402" /><Relationship Type="http://schemas.openxmlformats.org/officeDocument/2006/relationships/image" Target="/ppt/media/image3.jpeg" Id="R72afce5f208d4410" /><Relationship Type="http://schemas.openxmlformats.org/officeDocument/2006/relationships/notesSlide" Target="/ppt/notesSlides/notesSlide5.xml" Id="Ra5c245440b2e40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7731db0364bd0" /><Relationship Type="http://schemas.openxmlformats.org/officeDocument/2006/relationships/image" Target="/ppt/media/image4.jpeg" Id="Rb3991369f077493f" /><Relationship Type="http://schemas.openxmlformats.org/officeDocument/2006/relationships/notesSlide" Target="/ppt/notesSlides/notesSlide6.xml" Id="Ree06eeb9807c41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56a18af91242cc" /><Relationship Type="http://schemas.openxmlformats.org/officeDocument/2006/relationships/image" Target="/ppt/media/image5.jpeg" Id="R58518f9c3b79444a" /><Relationship Type="http://schemas.openxmlformats.org/officeDocument/2006/relationships/notesSlide" Target="/ppt/notesSlides/notesSlide7.xml" Id="R9d7f00f44d4f4c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7a7c7d03a645df" /><Relationship Type="http://schemas.openxmlformats.org/officeDocument/2006/relationships/notesSlide" Target="/ppt/notesSlides/notesSlide8.xml" Id="Rf864e5a2a0af49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8d20282db342c5" /><Relationship Type="http://schemas.openxmlformats.org/officeDocument/2006/relationships/notesSlide" Target="/ppt/notesSlides/notesSlide9.xml" Id="R149cb699337143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9d456616b742fa" /><Relationship Type="http://schemas.openxmlformats.org/officeDocument/2006/relationships/image" Target="/ppt/media/image3.bin" Id="R068884015dbc42d0" /><Relationship Type="http://schemas.openxmlformats.org/officeDocument/2006/relationships/notesSlide" Target="/ppt/notesSlides/notesSlide10.xml" Id="R54f58bfb25b944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1108B-DD5F-4396-A9ED-089FD35F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886A"/>
                </a:solidFill>
                <a:latin typeface="Arial"/>
                <a:ea typeface="Arial"/>
                <a:cs typeface="Arial"/>
              </a:rPr>
              <a:t>Лекторий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A7583-958D-414B-9A55-1E81D5AD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A65EE-DF96-465D-AC81-B2ABAB8DCA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88e88bd424b0f"/>
          <a:srcRect xmlns:a="http://schemas.openxmlformats.org/drawingml/2006/main" l="20688" t="0" r="206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0"/>
            <a:ext cx="714375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82800-BA77-460B-846A-3E5D455B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63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63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63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63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63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63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63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63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63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Лекторий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6D4B6-67E9-478B-BF10-B7897208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5048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32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32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32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32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32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32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32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32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32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83E2D"/>
                </a:solidFill>
                <a:latin typeface="Arial"/>
                <a:ea typeface="Arial"/>
                <a:cs typeface="Arial"/>
              </a:rPr>
              <a:t>Смысловой поиск</a:t>
            </a:r>
          </a:p>
          <a:p xmlns:a="http://schemas.openxmlformats.org/drawingml/2006/main">
            <a:pPr>
              <a:defRPr sz="32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83E2D"/>
                </a:solidFill>
                <a:latin typeface="Arial"/>
                <a:ea typeface="Arial"/>
                <a:cs typeface="Arial"/>
              </a:rPr>
              <a:t>по видеолекциям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963E6-A5CC-4E63-A912-2FC576EE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10075"/>
            <a:ext cx="4476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От вопроса своими словами</a:t>
            </a:r>
          </a:p>
          <a:p xmlns:a="http://schemas.openxmlformats.org/drawingml/2006/main">
            <a: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к нужной секунде видео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B960E-819C-4BC5-B7B5-337E601E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912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Киберрывок 2026</a:t>
            </a:r>
          </a:p>
        </p:txBody>
      </p:sp>
    </p:spTree>
    <p:extLst>
      <p:ext uri="{BB962C8B-B14F-4D97-AF65-F5344CB8AC3E}">
        <p14:creationId xmlns:p14="http://schemas.microsoft.com/office/powerpoint/2010/main" val="1710816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917A2-2A16-4E53-87E8-B59FCA57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Нужный момент в длинной лекции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D36AC-DB73-4EB8-A73C-B5171874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886A"/>
                </a:solidFill>
                <a:latin typeface="Arial"/>
                <a:ea typeface="Arial"/>
                <a:cs typeface="Arial"/>
              </a:rPr>
              <a:t>Лекторий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64BFC-0DFD-4A86-9521-72A57265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5ED75-C9BC-4F89-BCFF-F082A491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5857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7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47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47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47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47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47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47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47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47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47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7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4725" b="0">
                <a:solidFill>
                  <a:srgbClr val="183E2D"/>
                </a:solidFill>
                <a:latin typeface="Arial"/>
                <a:ea typeface="Arial"/>
                <a:cs typeface="Arial"/>
              </a:rPr>
              <a:t>«Где это</a:t>
            </a:r>
          </a:p>
          <a:p xmlns:a="http://schemas.openxmlformats.org/drawingml/2006/main">
            <a:pPr>
              <a:defRPr sz="4725" b="0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4725" b="0">
                <a:solidFill>
                  <a:srgbClr val="183E2D"/>
                </a:solidFill>
                <a:latin typeface="Arial"/>
                <a:ea typeface="Arial"/>
                <a:cs typeface="Arial"/>
              </a:rPr>
              <a:t>объясняли?»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85076-39BC-435E-95DA-CBADF673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990975"/>
            <a:ext cx="533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При повторном просмотре нужно</a:t>
            </a:r>
          </a:p>
          <a:p xmlns:a="http://schemas.openxmlformats.org/drawingml/2006/main">
            <a: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вспомнить формулировку и найти</a:t>
            </a:r>
          </a:p>
          <a:p xmlns:a="http://schemas.openxmlformats.org/drawingml/2006/main">
            <a: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нужное место на временной шкале.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CCFD9-50C4-46F0-A46D-7AF88DCE56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e5cb301224525"/>
          <a:srcRect xmlns:a="http://schemas.openxmlformats.org/drawingml/2006/main" l="13899" t="0" r="138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762125"/>
            <a:ext cx="5010150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84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FED5E-2F49-4DAA-A7D0-2CE0C56E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Каталог с поиском по смыслу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974F5-7057-4A0D-981A-498A6319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Одна точка входа для курсов, лекций и вопросов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0E26A-EC11-44C1-973F-1E10E0EF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886A"/>
                </a:solidFill>
                <a:latin typeface="Arial"/>
                <a:ea typeface="Arial"/>
                <a:cs typeface="Arial"/>
              </a:rPr>
              <a:t>Лекторий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06359-9490-4626-A344-75D841B4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E85C9-CBD8-45D6-8D53-8B252DE42E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33b3fbcad4f2b"/>
          <a:stretch xmlns:a="http://schemas.openxmlformats.org/drawingml/2006/main"/>
        </p:blipFill>
        <p:spPr>
          <a:xfrm xmlns:a="http://schemas.openxmlformats.org/drawingml/2006/main">
            <a:off x="4627579" y="1905000"/>
            <a:ext cx="6184867" cy="4210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336EE-A83D-48D9-A671-E4219183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Спросить</a:t>
            </a:r>
          </a:p>
          <a:p xmlns:a="http://schemas.openxmlformats.org/drawingml/2006/main">
            <a: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своими словами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B4C24-8854-44B4-99E3-84199389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2876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Выбрать курс</a:t>
            </a:r>
          </a:p>
          <a:p xmlns:a="http://schemas.openxmlformats.org/drawingml/2006/main">
            <a: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и продолжить</a:t>
            </a:r>
          </a:p>
          <a:p xmlns:a="http://schemas.openxmlformats.org/drawingml/2006/main">
            <a:pPr>
              <a:defRPr sz="21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изучение</a:t>
            </a:r>
          </a:p>
        </p:txBody>
      </p:sp>
    </p:spTree>
    <p:extLst>
      <p:ext uri="{BB962C8B-B14F-4D97-AF65-F5344CB8AC3E}">
        <p14:creationId xmlns:p14="http://schemas.microsoft.com/office/powerpoint/2010/main" val="14945188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E8D2D-7F0C-4355-88A3-183916DE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Запрос своими словами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2AB3A-509B-49A1-828A-61464A7D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Система сопоставляет смысл вопроса и транскрипта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6F30C-AA36-42C1-992A-7DADDCEE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886A"/>
                </a:solidFill>
                <a:latin typeface="Arial"/>
                <a:ea typeface="Arial"/>
                <a:cs typeface="Arial"/>
              </a:rPr>
              <a:t>Лекторий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18E9B-7761-43A7-BFB5-E84AA5B5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5D485-6682-4D89-84AF-109E515B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3905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Как найти длину</a:t>
            </a:r>
          </a:p>
          <a:p xmlns:a="http://schemas.openxmlformats.org/drawingml/2006/main">
            <a:pPr>
              <a:defRPr sz="28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диагонали комнаты?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A16D8-E7C6-4287-A617-18DFE5B2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5287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Результат: 0:53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EED92-DC52-464E-A269-D1DE8685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705350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Нажатие открывает</a:t>
            </a:r>
          </a:p>
          <a:p xmlns:a="http://schemas.openxmlformats.org/drawingml/2006/main">
            <a: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видео с этой секунды.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8B9A8-CA2E-4E12-9F74-DBDFFB0437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82c8d7e8e4eae"/>
          <a:stretch xmlns:a="http://schemas.openxmlformats.org/drawingml/2006/main"/>
        </p:blipFill>
        <p:spPr>
          <a:xfrm xmlns:a="http://schemas.openxmlformats.org/drawingml/2006/main">
            <a:off x="4762500" y="1942682"/>
            <a:ext cx="6819900" cy="40680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3044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41DD3-DF0D-47C7-BBCE-F9A62F0A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Видео и текст работают вместе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CC19D-5E15-4780-8DA7-A723A3A7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Транскрипт, оглавление и термины ведут к нужному моменту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951B1-AEB6-4086-AF9C-2C958501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886A"/>
                </a:solidFill>
                <a:latin typeface="Arial"/>
                <a:ea typeface="Arial"/>
                <a:cs typeface="Arial"/>
              </a:rPr>
              <a:t>Лекторий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BC18E-4512-41B5-A398-11BC2659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469A6-E972-4A4F-8B39-480E3EE9A2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fce5f208d4410"/>
          <a:stretch xmlns:a="http://schemas.openxmlformats.org/drawingml/2006/main"/>
        </p:blipFill>
        <p:spPr>
          <a:xfrm xmlns:a="http://schemas.openxmlformats.org/drawingml/2006/main">
            <a:off x="2555501" y="1876425"/>
            <a:ext cx="7100047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077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58F7D-A4D5-47A0-BAF5-A4C7A782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Ответ с опорой на источник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5D5B0-B249-40B6-87FE-6C3E165D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886A"/>
                </a:solidFill>
                <a:latin typeface="Arial"/>
                <a:ea typeface="Arial"/>
                <a:cs typeface="Arial"/>
              </a:rPr>
              <a:t>Лекторий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36C6E-FD56-4ACD-88E3-C51CFF48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5061F-4655-4C7A-8700-CF8D5D78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6477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Диагональ комнаты</a:t>
            </a:r>
          </a:p>
          <a:p xmlns:a="http://schemas.openxmlformats.org/drawingml/2006/main">
            <a: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3 × 4 метра</a:t>
            </a:r>
          </a:p>
          <a:p xmlns:a="http://schemas.openxmlformats.org/drawingml/2006/main">
            <a: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равна 5 метрам.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A8692-D3E4-4852-A6FB-00DC4771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29075"/>
            <a:ext cx="600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В ответе есть подтверждающий</a:t>
            </a:r>
          </a:p>
          <a:p xmlns:a="http://schemas.openxmlformats.org/drawingml/2006/main">
            <a:pPr>
              <a:defRPr sz="21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фрагмент лекции на 0:53.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FCC81-90E9-487B-A6BC-47379A1F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257800"/>
            <a:ext cx="600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Если данных в лекции нет,</a:t>
            </a:r>
          </a:p>
          <a:p xmlns:a="http://schemas.openxmlformats.org/drawingml/2006/main">
            <a: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система сообщает об этом.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37D13-ABD3-4004-B737-C73C7E51DD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91369f077493f"/>
          <a:stretch xmlns:a="http://schemas.openxmlformats.org/drawingml/2006/main"/>
        </p:blipFill>
        <p:spPr>
          <a:xfrm xmlns:a="http://schemas.openxmlformats.org/drawingml/2006/main">
            <a:off x="8162326" y="1571625"/>
            <a:ext cx="2887273" cy="4543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237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5FE1A-71FC-455C-A4EC-7F5EE3FA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Личная библиотека моментов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26D81-7BFE-48C0-837F-04E5BA06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Закладки и заметки сохраняют контекст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BFD93-815E-4D09-A6AD-B757FF44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886A"/>
                </a:solidFill>
                <a:latin typeface="Arial"/>
                <a:ea typeface="Arial"/>
                <a:cs typeface="Arial"/>
              </a:rPr>
              <a:t>Лекторий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DF6BD-5F94-4872-95B3-6FAAE82F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FBC18-89D6-4454-9325-7697394A53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18f9c3b79444a"/>
          <a:stretch xmlns:a="http://schemas.openxmlformats.org/drawingml/2006/main"/>
        </p:blipFill>
        <p:spPr>
          <a:xfrm xmlns:a="http://schemas.openxmlformats.org/drawingml/2006/main">
            <a:off x="4340178" y="1885950"/>
            <a:ext cx="7073993" cy="42195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D51BC-C09E-450B-A085-B7369874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Мысль + таймкод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EDD8C-EF37-4619-BC03-DBB135D9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05225"/>
            <a:ext cx="32099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Вернуться в видео</a:t>
            </a:r>
          </a:p>
          <a:p xmlns:a="http://schemas.openxmlformats.org/drawingml/2006/main">
            <a: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из личной заметки.</a:t>
            </a:r>
          </a:p>
          <a:p xmlns:a="http://schemas.openxmlformats.org/drawingml/2006/main">
            <a: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Изменить или удалить</a:t>
            </a:r>
          </a:p>
          <a:p xmlns:a="http://schemas.openxmlformats.org/drawingml/2006/main">
            <a: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сохранённую мысль.</a:t>
            </a:r>
          </a:p>
        </p:txBody>
      </p:sp>
    </p:spTree>
    <p:extLst>
      <p:ext uri="{BB962C8B-B14F-4D97-AF65-F5344CB8AC3E}">
        <p14:creationId xmlns:p14="http://schemas.microsoft.com/office/powerpoint/2010/main" val="20339353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D73CE-0EC5-4B2E-8132-2A024B5C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Три роли и серверные права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831DE-D23D-4C3D-A069-D237C1B2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886A"/>
                </a:solidFill>
                <a:latin typeface="Arial"/>
                <a:ea typeface="Arial"/>
                <a:cs typeface="Arial"/>
              </a:rPr>
              <a:t>Лекторий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27AA3-8DD4-4311-9BFF-498AF749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C9594-3AA4-4A48-9F01-272654C4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Зритель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9F2D5-34B1-4AEB-AF85-DCF3EE17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038475"/>
            <a:ext cx="33147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Смотрит и ищет.</a:t>
            </a:r>
          </a:p>
          <a:p xmlns:a="http://schemas.openxmlformats.org/drawingml/2006/main">
            <a: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Сохраняет личные заметки.</a:t>
            </a:r>
          </a:p>
          <a:p xmlns:a="http://schemas.openxmlformats.org/drawingml/2006/main">
            <a: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Предлагает новые видео.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C138D-2DB4-41FF-A58D-21120689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00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BEA6E-CC65-4446-83DD-84311B72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38475"/>
            <a:ext cx="33147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Добавляет видео и ссылки.</a:t>
            </a:r>
          </a:p>
          <a:p xmlns:a="http://schemas.openxmlformats.org/drawingml/2006/main">
            <a: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Следит за обработкой.</a:t>
            </a:r>
          </a:p>
          <a:p xmlns:a="http://schemas.openxmlformats.org/drawingml/2006/main">
            <a: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Управляет своими лекциями.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AF3CD-28BD-487D-B98A-0679BD4E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Администратор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C678F-823B-4BF2-B6DB-002F5A3F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038475"/>
            <a:ext cx="33147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Назначает роли.</a:t>
            </a:r>
          </a:p>
          <a:p xmlns:a="http://schemas.openxmlformats.org/drawingml/2006/main">
            <a: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Рассматривает предложения.</a:t>
            </a:r>
          </a:p>
          <a:p xmlns:a="http://schemas.openxmlformats.org/drawingml/2006/main">
            <a:pPr>
              <a:defRPr sz="18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Управляет всеми лекциями.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7FDFF-8552-4DF8-B50F-97FD13A0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4483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Каждый запрос проверяет роль и владельца на сервере.</a:t>
            </a:r>
          </a:p>
        </p:txBody>
      </p:sp>
    </p:spTree>
    <p:extLst>
      <p:ext uri="{BB962C8B-B14F-4D97-AF65-F5344CB8AC3E}">
        <p14:creationId xmlns:p14="http://schemas.microsoft.com/office/powerpoint/2010/main" val="14952160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1D5AA-257F-4FC2-8962-F8895B32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Архитектура обработки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1A732-0E91-4DAC-86EE-1E01E100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886A"/>
                </a:solidFill>
                <a:latin typeface="Arial"/>
                <a:ea typeface="Arial"/>
                <a:cs typeface="Arial"/>
              </a:rPr>
              <a:t>Лекторий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9B595-BA4C-4B80-9BA5-0896B9A0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23A56-7A8C-4F41-B76F-382D8CB9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DD"/>
          </a:solidFill>
          <a:ln xmlns:a="http://schemas.openxmlformats.org/drawingml/2006/main" w="9525">
            <a:solidFill>
              <a:srgbClr val="D5E0C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2B563-EC2A-4A00-9765-23402DFF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2981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React + TypeScript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EF6AA-1256-43BE-B238-4C7C3F7E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Плеер и интерфейс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FCD5B-0096-4EE9-8586-4B6332C7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438400"/>
            <a:ext cx="3048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A9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6FC0D-D7AF-4036-B01C-64A75673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0025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DD"/>
          </a:solidFill>
          <a:ln xmlns:a="http://schemas.openxmlformats.org/drawingml/2006/main" w="9525">
            <a:solidFill>
              <a:srgbClr val="D5E0C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ACE0D-9D0A-418B-A4B9-FF6B2351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00275"/>
            <a:ext cx="2981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85A86-9785-4610-B419-D094524F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146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Сессии и права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664CC-212D-45A0-9BEE-06564722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38400"/>
            <a:ext cx="3048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A96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9E04F-B24F-488B-BC8A-FD62B0AD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DD"/>
          </a:solidFill>
          <a:ln xmlns:a="http://schemas.openxmlformats.org/drawingml/2006/main" w="9525">
            <a:solidFill>
              <a:srgbClr val="D5E0C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EE88F-7B7E-4811-8C83-EB3DC8CF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0275"/>
            <a:ext cx="2981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SQLite + worker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E6138-2EA9-41D4-BB6D-F73A3941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Очередь и данные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532D7-DF29-4E4C-82D9-17EE793C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Видео или ссылка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BAB82-FCCD-43C4-A0DF-8B4E487E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3390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FFmpeg и Whisper</a:t>
            </a:r>
          </a:p>
          <a:p xmlns:a="http://schemas.openxmlformats.org/drawingml/2006/main">
            <a: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получают речь с таймкодами.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AA873-5071-46DE-9F92-B9B64891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481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Смысловой индекс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3EBA6A-D044-4D74-980B-19CD477E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3390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Multilingual E5 ONNX</a:t>
            </a:r>
          </a:p>
          <a:p xmlns:a="http://schemas.openxmlformats.org/drawingml/2006/main">
            <a: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сравнивает запрос и фрагменты.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675837-CDC2-45DA-858E-5C63B7DA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Материалы лекции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D72F50-202D-409B-BAF6-9747BA99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53390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Серверный API генерирует</a:t>
            </a:r>
          </a:p>
          <a:p xmlns:a="http://schemas.openxmlformats.org/drawingml/2006/main">
            <a:pPr>
              <a:defRPr sz="180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конспект и ответы с источниками.</a:t>
            </a:r>
          </a:p>
        </p:txBody>
      </p:sp>
    </p:spTree>
    <p:extLst>
      <p:ext uri="{BB962C8B-B14F-4D97-AF65-F5344CB8AC3E}">
        <p14:creationId xmlns:p14="http://schemas.microsoft.com/office/powerpoint/2010/main" val="16679497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21F61-2681-46C4-8227-F22F970C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Проверка работающего прототипа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5D8FB-9B35-406F-B74F-1ED06970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886A"/>
                </a:solidFill>
                <a:latin typeface="Arial"/>
                <a:ea typeface="Arial"/>
                <a:cs typeface="Arial"/>
              </a:rPr>
              <a:t>Лекторий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CA32E-4C16-4DD8-83FD-2C5E1D78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FABFE-74AC-4B7E-B919-559456F9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85925"/>
            <a:ext cx="25717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9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79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79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79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79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79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79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79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79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79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95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7950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AFEFB-BDDF-4703-A1A1-33ECBFB9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автоматические проверки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34985-39F2-4A31-B30A-ADA2CB94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61912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Реально проверены распознавание</a:t>
            </a:r>
          </a:p>
          <a:p xmlns:a="http://schemas.openxmlformats.org/drawingml/2006/main">
            <a: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видео без субтитров, импорт YouTube,</a:t>
            </a:r>
          </a:p>
          <a:p xmlns:a="http://schemas.openxmlformats.org/drawingml/2006/main">
            <a:pPr>
              <a:defRPr sz="202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поиск и ответы через подключённый API.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5C7C4-9D9F-4B36-A144-B0D7B02D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685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3E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E2D"/>
                </a:solidFill>
                <a:latin typeface="Arial"/>
                <a:ea typeface="Arial"/>
                <a:cs typeface="Arial"/>
              </a:rPr>
              <a:t>github.com/aerade/product2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C9560-5BCA-4748-940D-DB4090B494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884015dbc42d0"/>
          <a:srcRect xmlns:a="http://schemas.openxmlformats.org/drawingml/2006/main" l="5657" t="0" r="56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0925" y="1781175"/>
            <a:ext cx="4181475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2F185-6DA9-405A-ACF3-9BE5CF5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25780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Ограничение сети:</a:t>
            </a:r>
          </a:p>
          <a:p xmlns:a="http://schemas.openxmlformats.org/drawingml/2006/main">
            <a:pPr>
              <a:defRPr sz="15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Vimeo вернул HTTP 403.</a:t>
            </a:r>
          </a:p>
          <a:p xmlns:a="http://schemas.openxmlformats.org/drawingml/2006/main">
            <a:pPr>
              <a:defRPr sz="1575" b="0">
                <a:solidFill>
                  <a:srgbClr val="7888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886A"/>
                </a:solidFill>
                <a:latin typeface="Arial"/>
                <a:ea typeface="Arial"/>
                <a:cs typeface="Arial"/>
              </a:rPr>
              <a:t>Доступен путь загрузки файла.</a:t>
            </a:r>
          </a:p>
        </p:txBody>
      </p:sp>
    </p:spTree>
    <p:extLst>
      <p:ext uri="{BB962C8B-B14F-4D97-AF65-F5344CB8AC3E}">
        <p14:creationId xmlns:p14="http://schemas.microsoft.com/office/powerpoint/2010/main" val="1870207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2026-10-26T16:27:37.3670000Z</dcterms:created>
  <dcterms:modified xsi:type="dcterms:W3CDTF">2026-10-26T16:27:37.3670000Z</dcterms:modified>
</coreProperties>
</file>