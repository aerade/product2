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Лекторий — библиотека видеолекций со смысловым поиском. Репозиторий: https://github.com/aerade/product2. Иллюстрация создана с помощью imagegen в стиле текущего сайта.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описание пользовательской задачи, а не статистика исследования. Поиск использует локальные эмбеддинги E5. Источники: backend/search.py, backend/embeddings.py.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Скриншот работающего проекта: http://localhost:8000/#/. В каталоге восемь готовых лекций. Снимок сделан после актуальной сборки.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Реальный запрос к POST /api/search: «Как найти длину диагонали комнаты?». Результат: demo-pythagoras, start_seconds=53.95, score=0.9235. В интерфейсе время округляется до 0:53. Поиск допускает весь каталог или выбранные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Скриншот http://localhost:8000/#/lecture/demo-pythagoras?t=53.95. Видео действительно загружено и перемотано на 54 секунды. Демонстрационная мини-лекция использует синтетическую озвучку. Для новых распознаваний сохраняется время отдельных слов, для SRT/VTT подсветка приблизительная. Конспект и термины доступны во вкладках.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Скриншот реального ответа gpt-6-luna с reasoning_effort=medium. Вопрос о спутнике задан с lecture_id=demo-orbit. Модель вернула объяснение и одну проверенную ссылку на 0:34. Приватность истории и ограничения действий проверяет сервер. Источники: backend/assistant.py, docs/assistant.md.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Скриншот http://localhost:8000/#/library, вкладка «Заметки». Для демонстрации созданы две заметки и две закладки обычного пользователя; после съёмки временные записи удалены. Подмена интерфейса и данных на снимке не выполнялась.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Реальные снимки формы предложения собственного видео и раздела администрирования. Основная загрузка — /#/upload. Зритель предлагает, преподаватель загружает и редактирует свои лекции, администратор управляет каталогом и заявками. YouTube не поддерживается. Источник: README.md, backend/app.py.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Текущая реализация: Whisper large-v3 CPU/int8; субтитры источника имеют приоритет. E5 выбирает до 30 кандидатов, затем BGE-reranker-v2-m3 повторно оценивает соответствие вопросу. Материалы генерирует внешний LLM; при его недоступности показаны помеченные выдержки. Источники: backend/worker.py, backend/search.py, backend/rerank.py, docs/architecture.md; https://huggingface.co/BAAI/bge-reranker-v2-m3 ; https://huggingface.co/onnx-community/bge-reranker-v2-m3-ONNX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Функции действуют в текущем проекте: выбор нескольких лекций; чат gpt-6-luna с medium reasoning, источниками и изображениями; личные заметки и закладки; темы и адаптивность; ключевые термины с таймкодами. Источники: frontend/src/App.tsx, frontend/src/components/ui/ask-bar.tsx, backend/assistant.py.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Проверка 28.10.2026: 101 автоматический тест прошёл; TypeScript/Vite build и pip check успешны. В браузере проверены переход из поиска в видео, подсветка слов, заметки, повторное переключение закладок, роли, чат и пять мобильных страниц. Отдельный реальный файл 19,08 с прошёл Whisper large-v3 и генерацию материалов за 34,47 с на этом компьютере. Это результат короткого образца, а не обещание скорости для всех записей. Начальная копия содержит 8 готовых лекций.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План дальнейшего развития, а не уже реализованные функции. Иллюстрация создана с помощью imagegen в стиле проекта. Редактирование транскрипта, оценка на большом каталоге и GPU-ускорение здесь обозначены как будущая работа.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Проект и инструкция запуска: https://github.com/aerade/product2. Для живой демонстрации используйте запрос «Как найти длину диагонали комнаты?» и результат 0:53. Локальный сайт: http://localhost:8000. Данные входа демонстрационных аккаунтов находятся в README репозитория. Иллюстрация imagegen.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984928C-1A50-47DA-AC2D-C3C33826D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97A640C-8537-4274-8FD0-8930DEA50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0D5F5C3-4DCC-4693-BD81-D8FA31ED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80E31DB-3EC7-434A-B061-52904057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43B062D-32D4-41D4-BC66-E2662F80D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E56CE78-E238-450D-8D50-B16F09BE0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D38FA3B-500E-4531-B6C4-9AE7C2D8B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99F7FA4-10B1-40B5-9371-EA6AD1AAA2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F6401B9-E50D-49AE-99BF-D99E3E30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F5EFF73-A709-4F47-B05A-C713B51AE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aerade/product2" TargetMode="Externa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F81F2C5-BEDF-4127-8EF1-103747DB4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646C1A-58A5-4C27-B279-E04D5B8753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7341" y="400050"/>
            <a:ext cx="2849617" cy="952500"/>
          </a:xfrm>
          <a:prstGeom prst="rect">
            <a:avLst/>
          </a:prstGeom>
        </p:spPr>
      </p:pic>
      <p:sp>
        <p:nvSpPr>
          <p:cNvPr id="4" name="Поиск по&#10;видеолекциям">
            <a:extLst>
              <a:ext uri="{FF2B5EF4-FFF2-40B4-BE49-F238E27FC236}">
                <a16:creationId xmlns:a16="http://schemas.microsoft.com/office/drawing/2014/main" id="{A796D227-83D3-4D4C-A86C-3E813BA68756}"/>
              </a:ext>
            </a:extLst>
          </p:cNvPr>
          <p:cNvSpPr>
            <a:spLocks noGrp="1"/>
          </p:cNvSpPr>
          <p:nvPr/>
        </p:nvSpPr>
        <p:spPr>
          <a:xfrm>
            <a:off x="609600" y="2219325"/>
            <a:ext cx="509587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Поиск по</a:t>
            </a:r>
          </a:p>
          <a:p>
            <a:pPr>
              <a:buNone/>
              <a:defRPr sz="46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видеолекциям</a:t>
            </a:r>
          </a:p>
        </p:txBody>
      </p:sp>
      <p:sp>
        <p:nvSpPr>
          <p:cNvPr id="5" name="Задайте вопрос своими словами&#10;и откройте нужн">
            <a:extLst>
              <a:ext uri="{FF2B5EF4-FFF2-40B4-BE49-F238E27FC236}">
                <a16:creationId xmlns:a16="http://schemas.microsoft.com/office/drawing/2014/main" id="{DE572337-3A12-483F-A981-D5945159A83D}"/>
              </a:ext>
            </a:extLst>
          </p:cNvPr>
          <p:cNvSpPr>
            <a:spLocks noGrp="1"/>
          </p:cNvSpPr>
          <p:nvPr/>
        </p:nvSpPr>
        <p:spPr>
          <a:xfrm>
            <a:off x="638175" y="4000500"/>
            <a:ext cx="4810125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Задайте вопрос своими словами</a:t>
            </a:r>
          </a:p>
          <a:p>
            <a:pPr>
              <a:buNone/>
              <a:defRPr sz="217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и откройте нужный момент видео</a:t>
            </a:r>
          </a:p>
        </p:txBody>
      </p:sp>
      <p:sp>
        <p:nvSpPr>
          <p:cNvPr id="6" name="Работающий веб-проект">
            <a:extLst>
              <a:ext uri="{FF2B5EF4-FFF2-40B4-BE49-F238E27FC236}">
                <a16:creationId xmlns:a16="http://schemas.microsoft.com/office/drawing/2014/main" id="{354E2D00-D7B0-47E3-B57B-FDE871D1D716}"/>
              </a:ext>
            </a:extLst>
          </p:cNvPr>
          <p:cNvSpPr>
            <a:spLocks noGrp="1"/>
          </p:cNvSpPr>
          <p:nvPr/>
        </p:nvSpPr>
        <p:spPr>
          <a:xfrm>
            <a:off x="638175" y="5905500"/>
            <a:ext cx="4381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57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57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57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57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57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57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57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57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57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57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Работающий веб-проект</a:t>
            </a:r>
          </a:p>
        </p:txBody>
      </p:sp>
    </p:spTree>
    <p:extLst>
      <p:ext uri="{BB962C8B-B14F-4D97-AF65-F5344CB8AC3E}">
        <p14:creationId xmlns:p14="http://schemas.microsoft.com/office/powerpoint/2010/main" val="365266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D4FC960A-43AC-4264-8FFB-DFDA9AC50901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Зачем нужен Лекторий</a:t>
            </a:r>
            <a:r>
              <a:t>?</a:t>
            </a:r>
            <a:endParaRPr sz="3450" b="1">
              <a:solidFill>
                <a:srgbClr val="11182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02">
            <a:extLst>
              <a:ext uri="{FF2B5EF4-FFF2-40B4-BE49-F238E27FC236}">
                <a16:creationId xmlns:a16="http://schemas.microsoft.com/office/drawing/2014/main" id="{4B22F994-0968-4AF7-A5D1-70DDF8FAC2E9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B9496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Нужный ответ часто спрятан&#10;в длинной записи">
            <a:extLst>
              <a:ext uri="{FF2B5EF4-FFF2-40B4-BE49-F238E27FC236}">
                <a16:creationId xmlns:a16="http://schemas.microsoft.com/office/drawing/2014/main" id="{EA7E9FA5-3CF3-496E-A36B-62821404C743}"/>
              </a:ext>
            </a:extLst>
          </p:cNvPr>
          <p:cNvSpPr>
            <a:spLocks noGrp="1"/>
          </p:cNvSpPr>
          <p:nvPr/>
        </p:nvSpPr>
        <p:spPr>
          <a:xfrm>
            <a:off x="533989" y="1775234"/>
            <a:ext cx="5810249" cy="8405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Нужный ответ часто спрятан</a:t>
            </a:r>
          </a:p>
          <a:p>
            <a:pPr>
              <a:buNone/>
              <a:defRPr sz="270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в длинной записи</a:t>
            </a:r>
          </a:p>
        </p:txBody>
      </p:sp>
      <p:sp>
        <p:nvSpPr>
          <p:cNvPr id="5" name="Обычный поиск">
            <a:extLst>
              <a:ext uri="{FF2B5EF4-FFF2-40B4-BE49-F238E27FC236}">
                <a16:creationId xmlns:a16="http://schemas.microsoft.com/office/drawing/2014/main" id="{1F33AD15-5CDD-4E38-BEAE-D0D8DB06A858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581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Обычный поиск</a:t>
            </a:r>
          </a:p>
        </p:txBody>
      </p:sp>
      <p:sp>
        <p:nvSpPr>
          <p:cNvPr id="6" name="Человек помнит смысл объяснения,&#10;но не точные">
            <a:extLst>
              <a:ext uri="{FF2B5EF4-FFF2-40B4-BE49-F238E27FC236}">
                <a16:creationId xmlns:a16="http://schemas.microsoft.com/office/drawing/2014/main" id="{1B205443-8C84-4D50-ADA1-8A8476579FCE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5810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Человек помнит смысл объяснения,</a:t>
            </a:r>
          </a:p>
          <a:p>
            <a: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но не точные слова преподавателя.</a:t>
            </a:r>
          </a:p>
        </p:txBody>
      </p:sp>
      <p:sp>
        <p:nvSpPr>
          <p:cNvPr id="7" name="Поиск в Лектории">
            <a:extLst>
              <a:ext uri="{FF2B5EF4-FFF2-40B4-BE49-F238E27FC236}">
                <a16:creationId xmlns:a16="http://schemas.microsoft.com/office/drawing/2014/main" id="{561299BA-14BE-4657-8902-ADCC1C7303DD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581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Поиск в Лектории</a:t>
            </a:r>
          </a:p>
        </p:txBody>
      </p:sp>
      <p:sp>
        <p:nvSpPr>
          <p:cNvPr id="8" name="Вопрос приводит к фрагменту&#10;лекции и нужному ">
            <a:extLst>
              <a:ext uri="{FF2B5EF4-FFF2-40B4-BE49-F238E27FC236}">
                <a16:creationId xmlns:a16="http://schemas.microsoft.com/office/drawing/2014/main" id="{615309F7-669D-4450-BD7D-42BDEB3BCE02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5810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Вопрос приводит к фрагменту</a:t>
            </a:r>
          </a:p>
          <a:p>
            <a: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лекции и нужному времени видео.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4B810D-17B9-4055-8FC4-2EBB198A18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5625" y="1590675"/>
            <a:ext cx="46672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25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4233ED56-93AB-44C4-8389-A72F759B505A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Каталог лекций</a:t>
            </a:r>
          </a:p>
        </p:txBody>
      </p:sp>
      <p:sp>
        <p:nvSpPr>
          <p:cNvPr id="3" name="Обложки, темы и поиск по названию помогают вы">
            <a:extLst>
              <a:ext uri="{FF2B5EF4-FFF2-40B4-BE49-F238E27FC236}">
                <a16:creationId xmlns:a16="http://schemas.microsoft.com/office/drawing/2014/main" id="{9DBF5111-DA94-47A8-BE7A-EFD07396EA78}"/>
              </a:ext>
            </a:extLst>
          </p:cNvPr>
          <p:cNvSpPr>
            <a:spLocks noGrp="1"/>
          </p:cNvSpPr>
          <p:nvPr/>
        </p:nvSpPr>
        <p:spPr>
          <a:xfrm>
            <a:off x="609600" y="1076325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Обложки, темы и поиск по названию помогают выбрать материал</a:t>
            </a: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37DD327E-E34A-4F9E-AB9F-1B935820DCB9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B949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9BC1EE-023C-4100-A3D7-CEE27233BF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2064544"/>
            <a:ext cx="10972800" cy="3795522"/>
          </a:xfrm>
          <a:prstGeom prst="roundRect">
            <a:avLst>
              <a:gd name="adj" fmla="val 3991"/>
            </a:avLst>
          </a:prstGeom>
        </p:spPr>
      </p:pic>
      <p:sp>
        <p:nvSpPr>
          <p:cNvPr id="6" name="Готовая лекция открывается вместе с видео и у">
            <a:extLst>
              <a:ext uri="{FF2B5EF4-FFF2-40B4-BE49-F238E27FC236}">
                <a16:creationId xmlns:a16="http://schemas.microsoft.com/office/drawing/2014/main" id="{634240C5-E73E-45C1-9D40-8316C736865A}"/>
              </a:ext>
            </a:extLst>
          </p:cNvPr>
          <p:cNvSpPr>
            <a:spLocks noGrp="1"/>
          </p:cNvSpPr>
          <p:nvPr/>
        </p:nvSpPr>
        <p:spPr>
          <a:xfrm>
            <a:off x="628650" y="6238875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650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650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650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650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650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650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650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650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650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650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Готовая лекция открывается вместе с видео и учебными материалами</a:t>
            </a:r>
          </a:p>
        </p:txBody>
      </p:sp>
    </p:spTree>
    <p:extLst>
      <p:ext uri="{BB962C8B-B14F-4D97-AF65-F5344CB8AC3E}">
        <p14:creationId xmlns:p14="http://schemas.microsoft.com/office/powerpoint/2010/main" val="108014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0F459767-EBA0-4ADA-858E-3A7B76C946CE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Поиск по смыслу</a:t>
            </a:r>
          </a:p>
        </p:txBody>
      </p:sp>
      <p:sp>
        <p:nvSpPr>
          <p:cNvPr id="3" name="Пример вопроса: «Как найти длину диагонали ко">
            <a:extLst>
              <a:ext uri="{FF2B5EF4-FFF2-40B4-BE49-F238E27FC236}">
                <a16:creationId xmlns:a16="http://schemas.microsoft.com/office/drawing/2014/main" id="{A0F8F978-2F9A-453E-A71F-15103EAA08DB}"/>
              </a:ext>
            </a:extLst>
          </p:cNvPr>
          <p:cNvSpPr>
            <a:spLocks noGrp="1"/>
          </p:cNvSpPr>
          <p:nvPr/>
        </p:nvSpPr>
        <p:spPr>
          <a:xfrm>
            <a:off x="609600" y="1076325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Пример вопроса: «Как найти длину диагонали комнаты?»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C88F0469-C7BE-492B-BBD5-727C0F15841D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B949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744F2B-2B04-409E-997C-1A1C6E46B7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00" b="43000"/>
          <a:stretch/>
        </p:blipFill>
        <p:spPr>
          <a:xfrm>
            <a:off x="609600" y="1842535"/>
            <a:ext cx="10972800" cy="3973030"/>
          </a:xfrm>
          <a:prstGeom prst="roundRect">
            <a:avLst>
              <a:gd name="adj" fmla="val 2877"/>
            </a:avLst>
          </a:prstGeom>
        </p:spPr>
      </p:pic>
      <p:sp>
        <p:nvSpPr>
          <p:cNvPr id="6" name="0:53">
            <a:extLst>
              <a:ext uri="{FF2B5EF4-FFF2-40B4-BE49-F238E27FC236}">
                <a16:creationId xmlns:a16="http://schemas.microsoft.com/office/drawing/2014/main" id="{56C30FF1-1D43-4F11-AEB8-9CFCFA57414E}"/>
              </a:ext>
            </a:extLst>
          </p:cNvPr>
          <p:cNvSpPr>
            <a:spLocks noGrp="1"/>
          </p:cNvSpPr>
          <p:nvPr/>
        </p:nvSpPr>
        <p:spPr>
          <a:xfrm>
            <a:off x="619125" y="5915025"/>
            <a:ext cx="14763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D87943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225" b="1">
                <a:solidFill>
                  <a:srgbClr val="D87943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225" b="1">
                <a:solidFill>
                  <a:srgbClr val="D87943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225" b="1">
                <a:solidFill>
                  <a:srgbClr val="D87943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225" b="1">
                <a:solidFill>
                  <a:srgbClr val="D87943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225" b="1">
                <a:solidFill>
                  <a:srgbClr val="D87943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225" b="1">
                <a:solidFill>
                  <a:srgbClr val="D87943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225" b="1">
                <a:solidFill>
                  <a:srgbClr val="D87943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225" b="1">
                <a:solidFill>
                  <a:srgbClr val="D87943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225" b="1">
                <a:solidFill>
                  <a:srgbClr val="D8794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225" b="1">
                <a:solidFill>
                  <a:srgbClr val="D87943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D87943"/>
                </a:solidFill>
                <a:latin typeface="Segoe UI"/>
                <a:ea typeface="Segoe UI"/>
                <a:cs typeface="Segoe UI"/>
              </a:rPr>
              <a:t>0:53</a:t>
            </a:r>
          </a:p>
        </p:txBody>
      </p:sp>
      <p:sp>
        <p:nvSpPr>
          <p:cNvPr id="7" name="Сервис нашёл объяснение в лекции о теореме Пи">
            <a:extLst>
              <a:ext uri="{FF2B5EF4-FFF2-40B4-BE49-F238E27FC236}">
                <a16:creationId xmlns:a16="http://schemas.microsoft.com/office/drawing/2014/main" id="{08E17811-8E65-4337-88CE-37D1C00F5CB9}"/>
              </a:ext>
            </a:extLst>
          </p:cNvPr>
          <p:cNvSpPr>
            <a:spLocks noGrp="1"/>
          </p:cNvSpPr>
          <p:nvPr/>
        </p:nvSpPr>
        <p:spPr>
          <a:xfrm>
            <a:off x="2333625" y="5905500"/>
            <a:ext cx="9048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Сервис нашёл объяснение в лекции о теореме Пифагора.</a:t>
            </a:r>
          </a:p>
          <a:p>
            <a: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Нажатие на результат открывает видео с этого момента.</a:t>
            </a:r>
          </a:p>
        </p:txBody>
      </p:sp>
    </p:spTree>
    <p:extLst>
      <p:ext uri="{BB962C8B-B14F-4D97-AF65-F5344CB8AC3E}">
        <p14:creationId xmlns:p14="http://schemas.microsoft.com/office/powerpoint/2010/main" val="49443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8D8DE8F8-A30C-43CF-A75C-9BE3273BFA00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Страница лекции</a:t>
            </a:r>
          </a:p>
        </p:txBody>
      </p:sp>
      <p:sp>
        <p:nvSpPr>
          <p:cNvPr id="3" name="Текст и время видео связаны между собой">
            <a:extLst>
              <a:ext uri="{FF2B5EF4-FFF2-40B4-BE49-F238E27FC236}">
                <a16:creationId xmlns:a16="http://schemas.microsoft.com/office/drawing/2014/main" id="{A91A7483-65C5-498D-9E50-2F0C7E297181}"/>
              </a:ext>
            </a:extLst>
          </p:cNvPr>
          <p:cNvSpPr>
            <a:spLocks noGrp="1"/>
          </p:cNvSpPr>
          <p:nvPr/>
        </p:nvSpPr>
        <p:spPr>
          <a:xfrm>
            <a:off x="609600" y="1076325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Текст и время видео связаны между собой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1C3C8203-8D7E-42E0-959E-E96FDB433B2E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B9496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6882AA-6D58-4D9B-B93B-C37007E47E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775" y="1762125"/>
            <a:ext cx="6813550" cy="3829050"/>
          </a:xfrm>
          <a:prstGeom prst="roundRect">
            <a:avLst>
              <a:gd name="adj" fmla="val 2985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FB8F4B-4206-44C0-BA11-BEDB9468FE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000" b="10000"/>
          <a:stretch/>
        </p:blipFill>
        <p:spPr>
          <a:xfrm>
            <a:off x="7716524" y="1714500"/>
            <a:ext cx="3845553" cy="3886200"/>
          </a:xfrm>
          <a:prstGeom prst="roundRect">
            <a:avLst>
              <a:gd name="adj" fmla="val 2972"/>
            </a:avLst>
          </a:prstGeom>
        </p:spPr>
      </p:pic>
      <p:sp>
        <p:nvSpPr>
          <p:cNvPr id="7" name="Транскрипт">
            <a:extLst>
              <a:ext uri="{FF2B5EF4-FFF2-40B4-BE49-F238E27FC236}">
                <a16:creationId xmlns:a16="http://schemas.microsoft.com/office/drawing/2014/main" id="{827E4C1A-D21C-4102-83BB-6D417AA4D8C1}"/>
              </a:ext>
            </a:extLst>
          </p:cNvPr>
          <p:cNvSpPr>
            <a:spLocks noGrp="1"/>
          </p:cNvSpPr>
          <p:nvPr/>
        </p:nvSpPr>
        <p:spPr>
          <a:xfrm>
            <a:off x="619125" y="5838825"/>
            <a:ext cx="2647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Транскрипт</a:t>
            </a:r>
          </a:p>
        </p:txBody>
      </p:sp>
      <p:sp>
        <p:nvSpPr>
          <p:cNvPr id="8" name="Подсвечивает текущие слова">
            <a:extLst>
              <a:ext uri="{FF2B5EF4-FFF2-40B4-BE49-F238E27FC236}">
                <a16:creationId xmlns:a16="http://schemas.microsoft.com/office/drawing/2014/main" id="{3F358005-E9C5-40DC-8D35-F37AF47BE702}"/>
              </a:ext>
            </a:extLst>
          </p:cNvPr>
          <p:cNvSpPr>
            <a:spLocks noGrp="1"/>
          </p:cNvSpPr>
          <p:nvPr/>
        </p:nvSpPr>
        <p:spPr>
          <a:xfrm>
            <a:off x="619125" y="6238875"/>
            <a:ext cx="26479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Подсвечивает текущие слова</a:t>
            </a:r>
          </a:p>
        </p:txBody>
      </p:sp>
      <p:sp>
        <p:nvSpPr>
          <p:cNvPr id="9" name="Оглавление">
            <a:extLst>
              <a:ext uri="{FF2B5EF4-FFF2-40B4-BE49-F238E27FC236}">
                <a16:creationId xmlns:a16="http://schemas.microsoft.com/office/drawing/2014/main" id="{12A0099A-BAD9-40E7-B17A-6B43ECF4C4AD}"/>
              </a:ext>
            </a:extLst>
          </p:cNvPr>
          <p:cNvSpPr>
            <a:spLocks noGrp="1"/>
          </p:cNvSpPr>
          <p:nvPr/>
        </p:nvSpPr>
        <p:spPr>
          <a:xfrm>
            <a:off x="3390900" y="5838825"/>
            <a:ext cx="2647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Оглавление</a:t>
            </a:r>
          </a:p>
        </p:txBody>
      </p:sp>
      <p:sp>
        <p:nvSpPr>
          <p:cNvPr id="10" name="Ведёт к разделам лекции">
            <a:extLst>
              <a:ext uri="{FF2B5EF4-FFF2-40B4-BE49-F238E27FC236}">
                <a16:creationId xmlns:a16="http://schemas.microsoft.com/office/drawing/2014/main" id="{5618BCD9-F65E-4860-BF7D-9B2B319991C6}"/>
              </a:ext>
            </a:extLst>
          </p:cNvPr>
          <p:cNvSpPr>
            <a:spLocks noGrp="1"/>
          </p:cNvSpPr>
          <p:nvPr/>
        </p:nvSpPr>
        <p:spPr>
          <a:xfrm>
            <a:off x="3390900" y="6238875"/>
            <a:ext cx="26479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Ведёт к разделам лекции</a:t>
            </a:r>
          </a:p>
        </p:txBody>
      </p:sp>
      <p:sp>
        <p:nvSpPr>
          <p:cNvPr id="11" name="Конспект">
            <a:extLst>
              <a:ext uri="{FF2B5EF4-FFF2-40B4-BE49-F238E27FC236}">
                <a16:creationId xmlns:a16="http://schemas.microsoft.com/office/drawing/2014/main" id="{1E767219-ED17-4B2E-9448-C569CF32E616}"/>
              </a:ext>
            </a:extLst>
          </p:cNvPr>
          <p:cNvSpPr>
            <a:spLocks noGrp="1"/>
          </p:cNvSpPr>
          <p:nvPr/>
        </p:nvSpPr>
        <p:spPr>
          <a:xfrm>
            <a:off x="6162675" y="5838825"/>
            <a:ext cx="2647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Конспект</a:t>
            </a:r>
          </a:p>
        </p:txBody>
      </p:sp>
      <p:sp>
        <p:nvSpPr>
          <p:cNvPr id="12" name="Собирает основные мысли">
            <a:extLst>
              <a:ext uri="{FF2B5EF4-FFF2-40B4-BE49-F238E27FC236}">
                <a16:creationId xmlns:a16="http://schemas.microsoft.com/office/drawing/2014/main" id="{A1E04FB0-BA25-4617-977A-A32EFCBAFA11}"/>
              </a:ext>
            </a:extLst>
          </p:cNvPr>
          <p:cNvSpPr>
            <a:spLocks noGrp="1"/>
          </p:cNvSpPr>
          <p:nvPr/>
        </p:nvSpPr>
        <p:spPr>
          <a:xfrm>
            <a:off x="6162675" y="6238875"/>
            <a:ext cx="26479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Собирает основные мысли</a:t>
            </a:r>
          </a:p>
        </p:txBody>
      </p:sp>
      <p:sp>
        <p:nvSpPr>
          <p:cNvPr id="13" name="Термины">
            <a:extLst>
              <a:ext uri="{FF2B5EF4-FFF2-40B4-BE49-F238E27FC236}">
                <a16:creationId xmlns:a16="http://schemas.microsoft.com/office/drawing/2014/main" id="{2BF35D53-4EA2-4CB0-9565-42A925E90357}"/>
              </a:ext>
            </a:extLst>
          </p:cNvPr>
          <p:cNvSpPr>
            <a:spLocks noGrp="1"/>
          </p:cNvSpPr>
          <p:nvPr/>
        </p:nvSpPr>
        <p:spPr>
          <a:xfrm>
            <a:off x="8934450" y="5838825"/>
            <a:ext cx="2647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Термины</a:t>
            </a:r>
          </a:p>
        </p:txBody>
      </p:sp>
      <p:sp>
        <p:nvSpPr>
          <p:cNvPr id="14" name="Показывают места в видео">
            <a:extLst>
              <a:ext uri="{FF2B5EF4-FFF2-40B4-BE49-F238E27FC236}">
                <a16:creationId xmlns:a16="http://schemas.microsoft.com/office/drawing/2014/main" id="{E9528A78-8E26-4CC4-8EE7-D599BA308B35}"/>
              </a:ext>
            </a:extLst>
          </p:cNvPr>
          <p:cNvSpPr>
            <a:spLocks noGrp="1"/>
          </p:cNvSpPr>
          <p:nvPr/>
        </p:nvSpPr>
        <p:spPr>
          <a:xfrm>
            <a:off x="8934450" y="6238875"/>
            <a:ext cx="26479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3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Показывают места в видео</a:t>
            </a:r>
          </a:p>
        </p:txBody>
      </p:sp>
    </p:spTree>
    <p:extLst>
      <p:ext uri="{BB962C8B-B14F-4D97-AF65-F5344CB8AC3E}">
        <p14:creationId xmlns:p14="http://schemas.microsoft.com/office/powerpoint/2010/main" val="1975440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70D7BEE6-0402-4E63-A572-C262A12CC4DA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8F6F1"/>
                </a:solidFill>
                <a:latin typeface="Segoe UI"/>
                <a:ea typeface="Segoe UI"/>
                <a:cs typeface="Segoe UI"/>
              </a:rPr>
              <a:t>Лектория</a:t>
            </a:r>
          </a:p>
        </p:txBody>
      </p:sp>
      <p:sp>
        <p:nvSpPr>
          <p:cNvPr id="3" name="Чат объясняет материалы и показывает, где про">
            <a:extLst>
              <a:ext uri="{FF2B5EF4-FFF2-40B4-BE49-F238E27FC236}">
                <a16:creationId xmlns:a16="http://schemas.microsoft.com/office/drawing/2014/main" id="{7E5E7DB2-19CF-40B8-A7EE-3DFBD727A17D}"/>
              </a:ext>
            </a:extLst>
          </p:cNvPr>
          <p:cNvSpPr>
            <a:spLocks noGrp="1"/>
          </p:cNvSpPr>
          <p:nvPr/>
        </p:nvSpPr>
        <p:spPr>
          <a:xfrm>
            <a:off x="609600" y="1076325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C0C2"/>
                </a:solidFill>
                <a:latin typeface="Segoe UI"/>
                <a:ea typeface="Segoe UI"/>
                <a:cs typeface="Segoe UI"/>
              </a:rPr>
              <a:t>Чат объясняет материалы и показывает, где проверить ответ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03222B7B-899E-4406-BFCC-83618E824B22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DA8AB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8762BD-841E-4AEC-9871-0741528C6D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9125" y="1857375"/>
            <a:ext cx="1047750" cy="1047750"/>
          </a:xfrm>
          <a:prstGeom prst="rect">
            <a:avLst/>
          </a:prstGeom>
        </p:spPr>
      </p:pic>
      <p:sp>
        <p:nvSpPr>
          <p:cNvPr id="6" name="Вопрос по лекции">
            <a:extLst>
              <a:ext uri="{FF2B5EF4-FFF2-40B4-BE49-F238E27FC236}">
                <a16:creationId xmlns:a16="http://schemas.microsoft.com/office/drawing/2014/main" id="{C06AD305-57A4-4260-A72F-905BA9995CE3}"/>
              </a:ext>
            </a:extLst>
          </p:cNvPr>
          <p:cNvSpPr>
            <a:spLocks noGrp="1"/>
          </p:cNvSpPr>
          <p:nvPr/>
        </p:nvSpPr>
        <p:spPr>
          <a:xfrm>
            <a:off x="628650" y="31813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8F6F1"/>
                </a:solidFill>
                <a:latin typeface="Segoe UI"/>
                <a:ea typeface="Segoe UI"/>
                <a:cs typeface="Segoe UI"/>
              </a:rPr>
              <a:t>Вопрос по лекции</a:t>
            </a:r>
          </a:p>
        </p:txBody>
      </p:sp>
      <p:sp>
        <p:nvSpPr>
          <p:cNvPr id="7" name="Выбор одной лекции&#10;или всего каталога.">
            <a:extLst>
              <a:ext uri="{FF2B5EF4-FFF2-40B4-BE49-F238E27FC236}">
                <a16:creationId xmlns:a16="http://schemas.microsoft.com/office/drawing/2014/main" id="{5253317D-E6BA-4190-B243-1682917D5EB5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C0C2"/>
                </a:solidFill>
                <a:latin typeface="Segoe UI"/>
                <a:ea typeface="Segoe UI"/>
                <a:cs typeface="Segoe UI"/>
              </a:rPr>
              <a:t>Выбор одной лекции</a:t>
            </a:r>
          </a:p>
          <a:p>
            <a: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C0C2"/>
                </a:solidFill>
                <a:latin typeface="Segoe UI"/>
                <a:ea typeface="Segoe UI"/>
                <a:cs typeface="Segoe UI"/>
              </a:rPr>
              <a:t>или всего каталога.</a:t>
            </a:r>
          </a:p>
        </p:txBody>
      </p:sp>
      <p:sp>
        <p:nvSpPr>
          <p:cNvPr id="8" name="Ответ с источником">
            <a:extLst>
              <a:ext uri="{FF2B5EF4-FFF2-40B4-BE49-F238E27FC236}">
                <a16:creationId xmlns:a16="http://schemas.microsoft.com/office/drawing/2014/main" id="{6E391BF0-1DDC-45F7-8C10-109C9F0B5B61}"/>
              </a:ext>
            </a:extLst>
          </p:cNvPr>
          <p:cNvSpPr>
            <a:spLocks noGrp="1"/>
          </p:cNvSpPr>
          <p:nvPr/>
        </p:nvSpPr>
        <p:spPr>
          <a:xfrm>
            <a:off x="628650" y="4733925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025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8F6F1"/>
                </a:solidFill>
                <a:latin typeface="Segoe UI"/>
                <a:ea typeface="Segoe UI"/>
                <a:cs typeface="Segoe UI"/>
              </a:rPr>
              <a:t>Ответ с источником</a:t>
            </a:r>
          </a:p>
        </p:txBody>
      </p:sp>
      <p:sp>
        <p:nvSpPr>
          <p:cNvPr id="9" name="Ссылка открывает фрагмент,&#10;на который опирает">
            <a:extLst>
              <a:ext uri="{FF2B5EF4-FFF2-40B4-BE49-F238E27FC236}">
                <a16:creationId xmlns:a16="http://schemas.microsoft.com/office/drawing/2014/main" id="{ECBDF577-0D7E-462F-8405-10C5DDAD71E4}"/>
              </a:ext>
            </a:extLst>
          </p:cNvPr>
          <p:cNvSpPr>
            <a:spLocks noGrp="1"/>
          </p:cNvSpPr>
          <p:nvPr/>
        </p:nvSpPr>
        <p:spPr>
          <a:xfrm>
            <a:off x="628650" y="5191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C0C2"/>
                </a:solidFill>
                <a:latin typeface="Segoe UI"/>
                <a:ea typeface="Segoe UI"/>
                <a:cs typeface="Segoe UI"/>
              </a:rPr>
              <a:t>Ссылка открывает фрагмент,</a:t>
            </a:r>
          </a:p>
          <a:p>
            <a: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C0C2"/>
                </a:solidFill>
                <a:latin typeface="Segoe UI"/>
                <a:ea typeface="Segoe UI"/>
                <a:cs typeface="Segoe UI"/>
              </a:rPr>
              <a:t>на который опирается ответ.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6FD5F57-A82B-4482-8D8B-639F9BE8EC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000" t="9000" r="13000" b="64000"/>
          <a:stretch/>
        </p:blipFill>
        <p:spPr>
          <a:xfrm>
            <a:off x="4114800" y="2225032"/>
            <a:ext cx="7448550" cy="2407936"/>
          </a:xfrm>
          <a:prstGeom prst="roundRect">
            <a:avLst>
              <a:gd name="adj" fmla="val 4747"/>
            </a:avLst>
          </a:prstGeom>
        </p:spPr>
      </p:pic>
      <p:sp>
        <p:nvSpPr>
          <p:cNvPr id="11" name="Лектория работает с темами сайта и лекций.&#10;Ис">
            <a:extLst>
              <a:ext uri="{FF2B5EF4-FFF2-40B4-BE49-F238E27FC236}">
                <a16:creationId xmlns:a16="http://schemas.microsoft.com/office/drawing/2014/main" id="{121CDA35-F585-4C1F-8612-239716BF5BEF}"/>
              </a:ext>
            </a:extLst>
          </p:cNvPr>
          <p:cNvSpPr>
            <a:spLocks noGrp="1"/>
          </p:cNvSpPr>
          <p:nvPr/>
        </p:nvSpPr>
        <p:spPr>
          <a:xfrm>
            <a:off x="4267200" y="4924425"/>
            <a:ext cx="7143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buNone/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0C2"/>
                </a:solidFill>
                <a:latin typeface="Segoe UI"/>
                <a:ea typeface="Segoe UI"/>
                <a:cs typeface="Segoe UI"/>
              </a:rPr>
              <a:t>Лектория работает с темами сайта и лекций.</a:t>
            </a:r>
          </a:p>
          <a:p>
            <a:pPr algn="ctr">
              <a:buNone/>
              <a:defRPr sz="202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0C2"/>
                </a:solidFill>
                <a:latin typeface="Segoe UI"/>
                <a:ea typeface="Segoe UI"/>
                <a:cs typeface="Segoe UI"/>
              </a:rPr>
              <a:t>История диалогов остаётся личной.</a:t>
            </a:r>
          </a:p>
        </p:txBody>
      </p:sp>
    </p:spTree>
    <p:extLst>
      <p:ext uri="{BB962C8B-B14F-4D97-AF65-F5344CB8AC3E}">
        <p14:creationId xmlns:p14="http://schemas.microsoft.com/office/powerpoint/2010/main" val="46207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539BC8B5-968B-4723-B90F-508DA42C2CF1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Личная библиотека</a:t>
            </a:r>
          </a:p>
        </p:txBody>
      </p:sp>
      <p:sp>
        <p:nvSpPr>
          <p:cNvPr id="3" name="Закладки и заметки сохраняют важные моменты в">
            <a:extLst>
              <a:ext uri="{FF2B5EF4-FFF2-40B4-BE49-F238E27FC236}">
                <a16:creationId xmlns:a16="http://schemas.microsoft.com/office/drawing/2014/main" id="{13535657-60AA-4050-9178-A9FCAA25160D}"/>
              </a:ext>
            </a:extLst>
          </p:cNvPr>
          <p:cNvSpPr>
            <a:spLocks noGrp="1"/>
          </p:cNvSpPr>
          <p:nvPr/>
        </p:nvSpPr>
        <p:spPr>
          <a:xfrm>
            <a:off x="609600" y="1076325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Закладки и заметки сохраняют важные моменты вместе с таймкодом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2242B947-C04D-41BF-A6C5-981A66101CB9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B9496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FFBEBA-A005-486A-AD66-EFC067361C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00" b="4000"/>
          <a:stretch/>
        </p:blipFill>
        <p:spPr>
          <a:xfrm>
            <a:off x="609600" y="1909806"/>
            <a:ext cx="10972800" cy="4057563"/>
          </a:xfrm>
          <a:prstGeom prst="roundRect">
            <a:avLst>
              <a:gd name="adj" fmla="val 2817"/>
            </a:avLst>
          </a:prstGeom>
        </p:spPr>
      </p:pic>
      <p:sp>
        <p:nvSpPr>
          <p:cNvPr id="6" name="Свои записи можно открыть, изменить или удали">
            <a:extLst>
              <a:ext uri="{FF2B5EF4-FFF2-40B4-BE49-F238E27FC236}">
                <a16:creationId xmlns:a16="http://schemas.microsoft.com/office/drawing/2014/main" id="{3663E400-C5D6-46AB-AD4F-3E60A35D76FF}"/>
              </a:ext>
            </a:extLst>
          </p:cNvPr>
          <p:cNvSpPr>
            <a:spLocks noGrp="1"/>
          </p:cNvSpPr>
          <p:nvPr/>
        </p:nvSpPr>
        <p:spPr>
          <a:xfrm>
            <a:off x="619125" y="62293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72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72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72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72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72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72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72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72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72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725" b="0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Свои записи можно открыть, изменить или удалить</a:t>
            </a:r>
          </a:p>
        </p:txBody>
      </p:sp>
    </p:spTree>
    <p:extLst>
      <p:ext uri="{BB962C8B-B14F-4D97-AF65-F5344CB8AC3E}">
        <p14:creationId xmlns:p14="http://schemas.microsoft.com/office/powerpoint/2010/main" val="189274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C217270E-5CA3-434E-B2AF-2B478A2E26A3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Пополнение каталога</a:t>
            </a:r>
          </a:p>
        </p:txBody>
      </p:sp>
      <p:sp>
        <p:nvSpPr>
          <p:cNvPr id="3" name="Пользователь предлагает видео, администратор ">
            <a:extLst>
              <a:ext uri="{FF2B5EF4-FFF2-40B4-BE49-F238E27FC236}">
                <a16:creationId xmlns:a16="http://schemas.microsoft.com/office/drawing/2014/main" id="{A36CEEEB-0CF7-4CBC-80A7-80E204E61C29}"/>
              </a:ext>
            </a:extLst>
          </p:cNvPr>
          <p:cNvSpPr>
            <a:spLocks noGrp="1"/>
          </p:cNvSpPr>
          <p:nvPr/>
        </p:nvSpPr>
        <p:spPr>
          <a:xfrm>
            <a:off x="609600" y="1076325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Пользователь предлагает видео, администратор проверяет и публикует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810307F1-CCFF-492E-9440-D36C8411095A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B9496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5" name="Ссылка или свой файл">
            <a:extLst>
              <a:ext uri="{FF2B5EF4-FFF2-40B4-BE49-F238E27FC236}">
                <a16:creationId xmlns:a16="http://schemas.microsoft.com/office/drawing/2014/main" id="{F739D34A-2D83-4F40-9F9C-B5190ECB6706}"/>
              </a:ext>
            </a:extLst>
          </p:cNvPr>
          <p:cNvSpPr>
            <a:spLocks noGrp="1"/>
          </p:cNvSpPr>
          <p:nvPr/>
        </p:nvSpPr>
        <p:spPr>
          <a:xfrm>
            <a:off x="619125" y="17907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Ссылка или свой файл</a:t>
            </a:r>
          </a:p>
        </p:txBody>
      </p:sp>
      <p:sp>
        <p:nvSpPr>
          <p:cNvPr id="6" name="VK Видео, Rutube, Vimeo&#10;или MP4/WebM с компью">
            <a:extLst>
              <a:ext uri="{FF2B5EF4-FFF2-40B4-BE49-F238E27FC236}">
                <a16:creationId xmlns:a16="http://schemas.microsoft.com/office/drawing/2014/main" id="{5BBEAE19-8589-4D3D-8C7D-E7ACED2DCAFE}"/>
              </a:ext>
            </a:extLst>
          </p:cNvPr>
          <p:cNvSpPr>
            <a:spLocks noGrp="1"/>
          </p:cNvSpPr>
          <p:nvPr/>
        </p:nvSpPr>
        <p:spPr>
          <a:xfrm>
            <a:off x="619125" y="2286000"/>
            <a:ext cx="38576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VK Видео, Rutube, Vimeo</a:t>
            </a:r>
          </a:p>
          <a:p>
            <a: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или MP4/WebM с компьютера</a:t>
            </a:r>
          </a:p>
        </p:txBody>
      </p:sp>
      <p:sp>
        <p:nvSpPr>
          <p:cNvPr id="7" name="Перед публикацией">
            <a:extLst>
              <a:ext uri="{FF2B5EF4-FFF2-40B4-BE49-F238E27FC236}">
                <a16:creationId xmlns:a16="http://schemas.microsoft.com/office/drawing/2014/main" id="{BF746FD8-1184-429A-BF2E-AD45255608AB}"/>
              </a:ext>
            </a:extLst>
          </p:cNvPr>
          <p:cNvSpPr>
            <a:spLocks noGrp="1"/>
          </p:cNvSpPr>
          <p:nvPr/>
        </p:nvSpPr>
        <p:spPr>
          <a:xfrm>
            <a:off x="619125" y="360045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Перед публикацией</a:t>
            </a:r>
          </a:p>
        </p:txBody>
      </p:sp>
      <p:sp>
        <p:nvSpPr>
          <p:cNvPr id="8" name="Администратор задаёт название,&#10;описание, курс">
            <a:extLst>
              <a:ext uri="{FF2B5EF4-FFF2-40B4-BE49-F238E27FC236}">
                <a16:creationId xmlns:a16="http://schemas.microsoft.com/office/drawing/2014/main" id="{D8474285-67CE-4622-985D-C07CA0816CBC}"/>
              </a:ext>
            </a:extLst>
          </p:cNvPr>
          <p:cNvSpPr>
            <a:spLocks noGrp="1"/>
          </p:cNvSpPr>
          <p:nvPr/>
        </p:nvSpPr>
        <p:spPr>
          <a:xfrm>
            <a:off x="619125" y="4105275"/>
            <a:ext cx="395287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Администратор задаёт название,</a:t>
            </a:r>
          </a:p>
          <a:p>
            <a: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описание, курс и обложку.</a:t>
            </a:r>
          </a:p>
          <a:p>
            <a: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Преподаватель управляет</a:t>
            </a:r>
          </a:p>
          <a:p>
            <a:pPr>
              <a:buNone/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своими лекциями.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991EAF-4FBF-4F2C-8E0F-BA4585495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00"/>
          <a:stretch/>
        </p:blipFill>
        <p:spPr>
          <a:xfrm>
            <a:off x="4905375" y="2230755"/>
            <a:ext cx="2667000" cy="3291840"/>
          </a:xfrm>
          <a:prstGeom prst="roundRect">
            <a:avLst>
              <a:gd name="adj" fmla="val 4286"/>
            </a:avLst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659B975-6690-43EA-94C7-8774B9893B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00" b="29000"/>
          <a:stretch/>
        </p:blipFill>
        <p:spPr>
          <a:xfrm>
            <a:off x="7848600" y="2884298"/>
            <a:ext cx="3733800" cy="1984754"/>
          </a:xfrm>
          <a:prstGeom prst="roundRect">
            <a:avLst>
              <a:gd name="adj" fmla="val 5759"/>
            </a:avLst>
          </a:prstGeom>
        </p:spPr>
      </p:pic>
    </p:spTree>
    <p:extLst>
      <p:ext uri="{BB962C8B-B14F-4D97-AF65-F5344CB8AC3E}">
        <p14:creationId xmlns:p14="http://schemas.microsoft.com/office/powerpoint/2010/main" val="28581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1B494743-0140-4006-B8E6-3B9DD8503937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Как устроена обработка</a:t>
            </a:r>
          </a:p>
        </p:txBody>
      </p:sp>
      <p:sp>
        <p:nvSpPr>
          <p:cNvPr id="3" name="Долгая задача выполняется в фоне, её состояни">
            <a:extLst>
              <a:ext uri="{FF2B5EF4-FFF2-40B4-BE49-F238E27FC236}">
                <a16:creationId xmlns:a16="http://schemas.microsoft.com/office/drawing/2014/main" id="{ED08BD31-AA3B-48EF-BA81-0C023508057D}"/>
              </a:ext>
            </a:extLst>
          </p:cNvPr>
          <p:cNvSpPr>
            <a:spLocks noGrp="1"/>
          </p:cNvSpPr>
          <p:nvPr/>
        </p:nvSpPr>
        <p:spPr>
          <a:xfrm>
            <a:off x="609600" y="1076325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Долгая задача выполняется в фоне, её состояние видно на сайте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7E10EA47-6653-4AA8-A9D4-453374F468B6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B9496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7F3CD8-13DD-438B-8BE4-CE9901A75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38250" y="1619250"/>
            <a:ext cx="9715500" cy="3238500"/>
          </a:xfrm>
          <a:prstGeom prst="rect">
            <a:avLst/>
          </a:prstGeom>
        </p:spPr>
      </p:pic>
      <p:sp>
        <p:nvSpPr>
          <p:cNvPr id="6" name="Видео">
            <a:extLst>
              <a:ext uri="{FF2B5EF4-FFF2-40B4-BE49-F238E27FC236}">
                <a16:creationId xmlns:a16="http://schemas.microsoft.com/office/drawing/2014/main" id="{97960F97-1685-4E86-975D-68BACCCBE875}"/>
              </a:ext>
            </a:extLst>
          </p:cNvPr>
          <p:cNvSpPr>
            <a:spLocks noGrp="1"/>
          </p:cNvSpPr>
          <p:nvPr/>
        </p:nvSpPr>
        <p:spPr>
          <a:xfrm>
            <a:off x="619125" y="4524375"/>
            <a:ext cx="2619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Видео</a:t>
            </a:r>
          </a:p>
        </p:txBody>
      </p:sp>
      <p:sp>
        <p:nvSpPr>
          <p:cNvPr id="7" name="Файл или ссылка">
            <a:extLst>
              <a:ext uri="{FF2B5EF4-FFF2-40B4-BE49-F238E27FC236}">
                <a16:creationId xmlns:a16="http://schemas.microsoft.com/office/drawing/2014/main" id="{5D1CE204-B364-4A61-80F8-384327CF5977}"/>
              </a:ext>
            </a:extLst>
          </p:cNvPr>
          <p:cNvSpPr>
            <a:spLocks noGrp="1"/>
          </p:cNvSpPr>
          <p:nvPr/>
        </p:nvSpPr>
        <p:spPr>
          <a:xfrm>
            <a:off x="619125" y="5038725"/>
            <a:ext cx="2619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Файл или ссылка</a:t>
            </a:r>
          </a:p>
        </p:txBody>
      </p:sp>
      <p:sp>
        <p:nvSpPr>
          <p:cNvPr id="8" name="Транскрипт">
            <a:extLst>
              <a:ext uri="{FF2B5EF4-FFF2-40B4-BE49-F238E27FC236}">
                <a16:creationId xmlns:a16="http://schemas.microsoft.com/office/drawing/2014/main" id="{A6670792-8738-44E4-865B-3C44B6310A38}"/>
              </a:ext>
            </a:extLst>
          </p:cNvPr>
          <p:cNvSpPr>
            <a:spLocks noGrp="1"/>
          </p:cNvSpPr>
          <p:nvPr/>
        </p:nvSpPr>
        <p:spPr>
          <a:xfrm>
            <a:off x="3390900" y="4524375"/>
            <a:ext cx="2619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Транскрипт</a:t>
            </a:r>
          </a:p>
        </p:txBody>
      </p:sp>
      <p:sp>
        <p:nvSpPr>
          <p:cNvPr id="9" name="Whisper large-v3&#10;или готовые субтитры">
            <a:extLst>
              <a:ext uri="{FF2B5EF4-FFF2-40B4-BE49-F238E27FC236}">
                <a16:creationId xmlns:a16="http://schemas.microsoft.com/office/drawing/2014/main" id="{F9996CC1-8422-481C-859B-DCFA38CD99EE}"/>
              </a:ext>
            </a:extLst>
          </p:cNvPr>
          <p:cNvSpPr>
            <a:spLocks noGrp="1"/>
          </p:cNvSpPr>
          <p:nvPr/>
        </p:nvSpPr>
        <p:spPr>
          <a:xfrm>
            <a:off x="3390900" y="5038725"/>
            <a:ext cx="2619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Whisper large-v3</a:t>
            </a:r>
          </a:p>
          <a:p>
            <a: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или готовые субтитры</a:t>
            </a:r>
          </a:p>
        </p:txBody>
      </p:sp>
      <p:sp>
        <p:nvSpPr>
          <p:cNvPr id="10" name="Материалы">
            <a:extLst>
              <a:ext uri="{FF2B5EF4-FFF2-40B4-BE49-F238E27FC236}">
                <a16:creationId xmlns:a16="http://schemas.microsoft.com/office/drawing/2014/main" id="{79B7EA29-7300-4F03-B071-EC93FE3E7A14}"/>
              </a:ext>
            </a:extLst>
          </p:cNvPr>
          <p:cNvSpPr>
            <a:spLocks noGrp="1"/>
          </p:cNvSpPr>
          <p:nvPr/>
        </p:nvSpPr>
        <p:spPr>
          <a:xfrm>
            <a:off x="6162675" y="4524375"/>
            <a:ext cx="2619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Материалы</a:t>
            </a:r>
          </a:p>
        </p:txBody>
      </p:sp>
      <p:sp>
        <p:nvSpPr>
          <p:cNvPr id="11" name="Конспект, оглавление&#10;и ключевые термины">
            <a:extLst>
              <a:ext uri="{FF2B5EF4-FFF2-40B4-BE49-F238E27FC236}">
                <a16:creationId xmlns:a16="http://schemas.microsoft.com/office/drawing/2014/main" id="{704ACB73-5BBF-43D4-91F7-31CF3B380C28}"/>
              </a:ext>
            </a:extLst>
          </p:cNvPr>
          <p:cNvSpPr>
            <a:spLocks noGrp="1"/>
          </p:cNvSpPr>
          <p:nvPr/>
        </p:nvSpPr>
        <p:spPr>
          <a:xfrm>
            <a:off x="6162675" y="5038725"/>
            <a:ext cx="2619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Конспект, оглавление</a:t>
            </a:r>
          </a:p>
          <a:p>
            <a: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и ключевые термины</a:t>
            </a:r>
          </a:p>
        </p:txBody>
      </p:sp>
      <p:sp>
        <p:nvSpPr>
          <p:cNvPr id="12" name="Поиск">
            <a:extLst>
              <a:ext uri="{FF2B5EF4-FFF2-40B4-BE49-F238E27FC236}">
                <a16:creationId xmlns:a16="http://schemas.microsoft.com/office/drawing/2014/main" id="{F6EBA98E-1666-42DC-995F-49BC0C49D4C6}"/>
              </a:ext>
            </a:extLst>
          </p:cNvPr>
          <p:cNvSpPr>
            <a:spLocks noGrp="1"/>
          </p:cNvSpPr>
          <p:nvPr/>
        </p:nvSpPr>
        <p:spPr>
          <a:xfrm>
            <a:off x="8934450" y="4524375"/>
            <a:ext cx="2619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100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Поиск</a:t>
            </a:r>
          </a:p>
        </p:txBody>
      </p:sp>
      <p:sp>
        <p:nvSpPr>
          <p:cNvPr id="13" name="Сопоставление смысла&#10;вопроса и фрагментов">
            <a:extLst>
              <a:ext uri="{FF2B5EF4-FFF2-40B4-BE49-F238E27FC236}">
                <a16:creationId xmlns:a16="http://schemas.microsoft.com/office/drawing/2014/main" id="{EDE30B67-47F6-4739-92D9-395382F19803}"/>
              </a:ext>
            </a:extLst>
          </p:cNvPr>
          <p:cNvSpPr>
            <a:spLocks noGrp="1"/>
          </p:cNvSpPr>
          <p:nvPr/>
        </p:nvSpPr>
        <p:spPr>
          <a:xfrm>
            <a:off x="8934450" y="5038725"/>
            <a:ext cx="2619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E5 находит фрагменты,</a:t>
            </a:r>
          </a:p>
          <a:p>
            <a:pPr>
              <a:buNone/>
              <a:defRPr sz="1800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BGE уточняет выдачу</a:t>
            </a:r>
          </a:p>
        </p:txBody>
      </p:sp>
      <p:sp>
        <p:nvSpPr>
          <p:cNvPr id="14" name="React и FastAPI. Данные хранятся в SQLite, см">
            <a:extLst>
              <a:ext uri="{FF2B5EF4-FFF2-40B4-BE49-F238E27FC236}">
                <a16:creationId xmlns:a16="http://schemas.microsoft.com/office/drawing/2014/main" id="{3B8EEBE6-9655-499C-B1FC-7173247028F2}"/>
              </a:ext>
            </a:extLst>
          </p:cNvPr>
          <p:cNvSpPr>
            <a:spLocks noGrp="1"/>
          </p:cNvSpPr>
          <p:nvPr/>
        </p:nvSpPr>
        <p:spPr>
          <a:xfrm>
            <a:off x="619125" y="6200775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6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6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6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6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6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6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6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6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6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65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React и FastAPI. Данные в SQLite. Смысловой поиск на E5 и BGE-reranker.</a:t>
            </a:r>
          </a:p>
        </p:txBody>
      </p:sp>
    </p:spTree>
    <p:extLst>
      <p:ext uri="{BB962C8B-B14F-4D97-AF65-F5344CB8AC3E}">
        <p14:creationId xmlns:p14="http://schemas.microsoft.com/office/powerpoint/2010/main" val="1486799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B8EBC0-A726-4C7C-89BF-E6DB6DEB34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00" t="10000"/>
          <a:stretch/>
        </p:blipFill>
        <p:spPr>
          <a:xfrm>
            <a:off x="6248400" y="2024142"/>
            <a:ext cx="5943600" cy="4181315"/>
          </a:xfrm>
          <a:prstGeom prst="rect">
            <a:avLst/>
          </a:prstGeom>
        </p:spPr>
      </p:pic>
      <p:sp>
        <p:nvSpPr>
          <p:cNvPr id="3" name="Дополнительные&#10;возможности">
            <a:extLst>
              <a:ext uri="{FF2B5EF4-FFF2-40B4-BE49-F238E27FC236}">
                <a16:creationId xmlns:a16="http://schemas.microsoft.com/office/drawing/2014/main" id="{D5A1914F-38F9-4FC2-BDB2-E4BF6C40CED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Дополнительные</a:t>
            </a:r>
          </a:p>
          <a:p>
            <a:pPr>
              <a:buNone/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возможности</a:t>
            </a:r>
          </a:p>
        </p:txBody>
      </p:sp>
      <p:sp>
        <p:nvSpPr>
          <p:cNvPr id="4" name="Поиск по нескольким лекциям">
            <a:extLst>
              <a:ext uri="{FF2B5EF4-FFF2-40B4-BE49-F238E27FC236}">
                <a16:creationId xmlns:a16="http://schemas.microsoft.com/office/drawing/2014/main" id="{17D0971E-42E8-48EF-A2CB-BBF14371C077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5191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t>Поиск по нескольким лекциям</a:t>
            </a:r>
            <a:endParaRPr sz="2025" b="1">
              <a:solidFill>
                <a:srgbClr val="11182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" name="Общий каталог или свой набор.">
            <a:extLst>
              <a:ext uri="{FF2B5EF4-FFF2-40B4-BE49-F238E27FC236}">
                <a16:creationId xmlns:a16="http://schemas.microsoft.com/office/drawing/2014/main" id="{1614459A-7D0D-4664-8D02-513783CFCE28}"/>
              </a:ext>
            </a:extLst>
          </p:cNvPr>
          <p:cNvSpPr>
            <a:spLocks noGrp="1"/>
          </p:cNvSpPr>
          <p:nvPr/>
        </p:nvSpPr>
        <p:spPr>
          <a:xfrm>
            <a:off x="619125" y="2324100"/>
            <a:ext cx="519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Общий каталог или свой набор.</a:t>
            </a:r>
          </a:p>
        </p:txBody>
      </p:sp>
      <p:sp>
        <p:nvSpPr>
          <p:cNvPr id="6" name="Изображения в чате">
            <a:extLst>
              <a:ext uri="{FF2B5EF4-FFF2-40B4-BE49-F238E27FC236}">
                <a16:creationId xmlns:a16="http://schemas.microsoft.com/office/drawing/2014/main" id="{2C8DBABD-1BFA-4A6E-92B5-6C687150E9E7}"/>
              </a:ext>
            </a:extLst>
          </p:cNvPr>
          <p:cNvSpPr>
            <a:spLocks noGrp="1"/>
          </p:cNvSpPr>
          <p:nvPr/>
        </p:nvSpPr>
        <p:spPr>
          <a:xfrm>
            <a:off x="619125" y="2781300"/>
            <a:ext cx="5191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t>Чат Лектория</a:t>
            </a:r>
            <a:endParaRPr sz="2025" b="1">
              <a:solidFill>
                <a:srgbClr val="11182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Можно приложить схему или слайд.">
            <a:extLst>
              <a:ext uri="{FF2B5EF4-FFF2-40B4-BE49-F238E27FC236}">
                <a16:creationId xmlns:a16="http://schemas.microsoft.com/office/drawing/2014/main" id="{8757A9F6-6951-4924-B8FC-770CB5E2AA12}"/>
              </a:ext>
            </a:extLst>
          </p:cNvPr>
          <p:cNvSpPr>
            <a:spLocks noGrp="1"/>
          </p:cNvSpPr>
          <p:nvPr/>
        </p:nvSpPr>
        <p:spPr>
          <a:xfrm>
            <a:off x="619125" y="3162300"/>
            <a:ext cx="519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725"/>
              <a:t>Ответы по лекциям с проверяемыми источниками.</a:t>
            </a:r>
            <a:endParaRPr sz="1800" b="0">
              <a:solidFill>
                <a:srgbClr val="64707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Светлая и тёмная темы">
            <a:extLst>
              <a:ext uri="{FF2B5EF4-FFF2-40B4-BE49-F238E27FC236}">
                <a16:creationId xmlns:a16="http://schemas.microsoft.com/office/drawing/2014/main" id="{084CA1C8-FAB4-4AF9-A579-88953B8136A2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5191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Личная библиотека</a:t>
            </a:r>
          </a:p>
        </p:txBody>
      </p:sp>
      <p:sp>
        <p:nvSpPr>
          <p:cNvPr id="9" name="Оформление и иллюстрации&#10;меняются вместе с те">
            <a:extLst>
              <a:ext uri="{FF2B5EF4-FFF2-40B4-BE49-F238E27FC236}">
                <a16:creationId xmlns:a16="http://schemas.microsoft.com/office/drawing/2014/main" id="{7E9FD996-AE6A-4BCE-9D4B-1A449962D9D8}"/>
              </a:ext>
            </a:extLst>
          </p:cNvPr>
          <p:cNvSpPr>
            <a:spLocks noGrp="1"/>
          </p:cNvSpPr>
          <p:nvPr/>
        </p:nvSpPr>
        <p:spPr>
          <a:xfrm>
            <a:off x="619125" y="4000500"/>
            <a:ext cx="519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Закладки и заметки с таймкодами.</a:t>
            </a:r>
            <a:endParaRPr sz="1800" b="0">
              <a:solidFill>
                <a:srgbClr val="64707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0" name="10">
            <a:extLst>
              <a:ext uri="{FF2B5EF4-FFF2-40B4-BE49-F238E27FC236}">
                <a16:creationId xmlns:a16="http://schemas.microsoft.com/office/drawing/2014/main" id="{DE6B298B-694B-4065-A1EA-EE89E9028D07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B9496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12" name="Светлая и тёмная темы">
            <a:extLst>
              <a:ext uri="{FF2B5EF4-FFF2-40B4-BE49-F238E27FC236}">
                <a16:creationId xmlns:a16="http://schemas.microsoft.com/office/drawing/2014/main" id="{EAE47CE6-CED1-E650-6B9E-85A6CE890FFA}"/>
              </a:ext>
            </a:extLst>
          </p:cNvPr>
          <p:cNvSpPr>
            <a:spLocks noGrp="1"/>
          </p:cNvSpPr>
          <p:nvPr/>
        </p:nvSpPr>
        <p:spPr>
          <a:xfrm>
            <a:off x="619125" y="4457700"/>
            <a:ext cx="5191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Светлая и тёмная темы</a:t>
            </a:r>
          </a:p>
        </p:txBody>
      </p:sp>
      <p:sp>
        <p:nvSpPr>
          <p:cNvPr id="14" name="Оформление и иллюстрации&#10;меняются вместе с те">
            <a:extLst>
              <a:ext uri="{FF2B5EF4-FFF2-40B4-BE49-F238E27FC236}">
                <a16:creationId xmlns:a16="http://schemas.microsoft.com/office/drawing/2014/main" id="{42B50780-2B82-271B-CC79-74D076E87C9F}"/>
              </a:ext>
            </a:extLst>
          </p:cNvPr>
          <p:cNvSpPr>
            <a:spLocks noGrp="1"/>
          </p:cNvSpPr>
          <p:nvPr/>
        </p:nvSpPr>
        <p:spPr>
          <a:xfrm>
            <a:off x="619125" y="4838700"/>
            <a:ext cx="519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r>
              <a:rPr sz="1725" b="0" dirty="0" err="1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Оформление</a:t>
            </a:r>
            <a:r>
              <a:rPr sz="1725" b="0" dirty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1725" b="0" dirty="0" err="1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иллюстрации</a:t>
            </a:r>
            <a:r>
              <a:rPr sz="1725" b="0" dirty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25" b="0" dirty="0" err="1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меняются</a:t>
            </a:r>
            <a:r>
              <a:rPr sz="1725" b="0" dirty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725" b="0" dirty="0" err="1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вместе</a:t>
            </a:r>
            <a:r>
              <a:rPr sz="1725" b="0" dirty="0">
                <a:solidFill>
                  <a:srgbClr val="647077"/>
                </a:solidFill>
                <a:latin typeface="Segoe UI"/>
                <a:ea typeface="Segoe UI"/>
                <a:cs typeface="Segoe UI"/>
              </a:rPr>
              <a:t>.</a:t>
            </a:r>
            <a:endParaRPr sz="1800" b="0" dirty="0">
              <a:solidFill>
                <a:srgbClr val="64707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15D8B3-A02A-D097-51F3-E0BF4FBC4E9A}"/>
              </a:ext>
            </a:extLst>
          </p:cNvPr>
          <p:cNvSpPr>
            <a:spLocks noGrp="1"/>
          </p:cNvSpPr>
          <p:nvPr/>
        </p:nvSpPr>
        <p:spPr>
          <a:xfrm>
            <a:off x="534284" y="5181600"/>
            <a:ext cx="5191125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025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lang="ru-RU" sz="2025" b="1" dirty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и многое другое</a:t>
            </a:r>
            <a:endParaRPr sz="2025" b="1" dirty="0">
              <a:solidFill>
                <a:srgbClr val="11182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7" name="Переход к нужным моментам видео.">
            <a:extLst>
              <a:ext uri="{FF2B5EF4-FFF2-40B4-BE49-F238E27FC236}">
                <a16:creationId xmlns:a16="http://schemas.microsoft.com/office/drawing/2014/main" id="{0B737B2B-5571-4C43-A41F-45BF2D533ADA}"/>
              </a:ext>
            </a:extLst>
          </p:cNvPr>
          <p:cNvSpPr>
            <a:spLocks noGrp="1"/>
          </p:cNvSpPr>
          <p:nvPr/>
        </p:nvSpPr>
        <p:spPr>
          <a:xfrm>
            <a:off x="619125" y="5676900"/>
            <a:ext cx="519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725" b="0">
                <a:solidFill>
                  <a:srgbClr val="647077"/>
                </a:solidFill>
                <a:latin typeface="Segoe UI"/>
                <a:ea typeface="Segoe UI"/>
                <a:cs typeface="Segoe UI"/>
              </a:defRPr>
            </a:pPr>
            <a:endParaRPr sz="1725" b="0" dirty="0">
              <a:solidFill>
                <a:srgbClr val="647077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0883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BB41FD72-01E4-4C2D-B758-3EE072A2B28C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4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8F6F1"/>
                </a:solidFill>
                <a:latin typeface="Segoe UI"/>
                <a:ea typeface="Segoe UI"/>
                <a:cs typeface="Segoe UI"/>
              </a:rPr>
              <a:t>Рабочий проект</a:t>
            </a:r>
          </a:p>
        </p:txBody>
      </p:sp>
      <p:sp>
        <p:nvSpPr>
          <p:cNvPr id="3" name="Проверен локальный запуск, основные сценарии ">
            <a:extLst>
              <a:ext uri="{FF2B5EF4-FFF2-40B4-BE49-F238E27FC236}">
                <a16:creationId xmlns:a16="http://schemas.microsoft.com/office/drawing/2014/main" id="{0CE6E36D-A0F2-4D14-9054-F12C75513A9C}"/>
              </a:ext>
            </a:extLst>
          </p:cNvPr>
          <p:cNvSpPr>
            <a:spLocks noGrp="1"/>
          </p:cNvSpPr>
          <p:nvPr/>
        </p:nvSpPr>
        <p:spPr>
          <a:xfrm>
            <a:off x="609600" y="1076325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00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8C0C2"/>
                </a:solidFill>
                <a:latin typeface="Segoe UI"/>
                <a:ea typeface="Segoe UI"/>
                <a:cs typeface="Segoe UI"/>
              </a:rPr>
              <a:t>Проверен локальный запуск, основные сценарии и восстановление данных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DF3C787F-054D-4FB3-8F0C-1A7678784CF5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200" b="0">
                <a:solidFill>
                  <a:srgbClr val="9DA8A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DA8AB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5" name="96">
            <a:extLst>
              <a:ext uri="{FF2B5EF4-FFF2-40B4-BE49-F238E27FC236}">
                <a16:creationId xmlns:a16="http://schemas.microsoft.com/office/drawing/2014/main" id="{85A8CA32-1DE1-42D8-8329-A2213111EC10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1714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700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5700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5700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5700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5700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5700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5700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5700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5700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5700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5700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E78A53"/>
                </a:solidFill>
                <a:latin typeface="Segoe UI"/>
                <a:ea typeface="Segoe UI"/>
                <a:cs typeface="Segoe UI"/>
              </a:rPr>
              <a:t>101</a:t>
            </a:r>
          </a:p>
        </p:txBody>
      </p:sp>
      <p:sp>
        <p:nvSpPr>
          <p:cNvPr id="6" name="автоматических тестов&#10;прошли успешно">
            <a:extLst>
              <a:ext uri="{FF2B5EF4-FFF2-40B4-BE49-F238E27FC236}">
                <a16:creationId xmlns:a16="http://schemas.microsoft.com/office/drawing/2014/main" id="{E0F8CB55-D1BF-438F-B707-5830D024D3CC}"/>
              </a:ext>
            </a:extLst>
          </p:cNvPr>
          <p:cNvSpPr>
            <a:spLocks noGrp="1"/>
          </p:cNvSpPr>
          <p:nvPr/>
        </p:nvSpPr>
        <p:spPr>
          <a:xfrm>
            <a:off x="619125" y="296227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8F6F1"/>
                </a:solidFill>
                <a:latin typeface="Segoe UI"/>
                <a:ea typeface="Segoe UI"/>
                <a:cs typeface="Segoe UI"/>
              </a:rPr>
              <a:t>автоматических тестов</a:t>
            </a:r>
          </a:p>
          <a:p>
            <a:pPr>
              <a:buNone/>
              <a:defRPr sz="2025" b="0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8F6F1"/>
                </a:solidFill>
                <a:latin typeface="Segoe UI"/>
                <a:ea typeface="Segoe UI"/>
                <a:cs typeface="Segoe UI"/>
              </a:rPr>
              <a:t>прошли успешно</a:t>
            </a:r>
          </a:p>
        </p:txBody>
      </p:sp>
      <p:sp>
        <p:nvSpPr>
          <p:cNvPr id="7" name="8 лекций">
            <a:extLst>
              <a:ext uri="{FF2B5EF4-FFF2-40B4-BE49-F238E27FC236}">
                <a16:creationId xmlns:a16="http://schemas.microsoft.com/office/drawing/2014/main" id="{B11A4A32-5C11-44D9-82D4-9DD3E7A3F4A2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300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300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300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300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300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300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300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300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300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300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8F6F1"/>
                </a:solidFill>
                <a:latin typeface="Segoe UI"/>
                <a:ea typeface="Segoe UI"/>
                <a:cs typeface="Segoe UI"/>
              </a:rPr>
              <a:t>8 лекций</a:t>
            </a:r>
          </a:p>
        </p:txBody>
      </p:sp>
      <p:sp>
        <p:nvSpPr>
          <p:cNvPr id="8" name="с готовыми материалами&#10;в начальной копии прое">
            <a:extLst>
              <a:ext uri="{FF2B5EF4-FFF2-40B4-BE49-F238E27FC236}">
                <a16:creationId xmlns:a16="http://schemas.microsoft.com/office/drawing/2014/main" id="{C6BDA4C2-F737-4230-8166-A9740D0E1F44}"/>
              </a:ext>
            </a:extLst>
          </p:cNvPr>
          <p:cNvSpPr>
            <a:spLocks noGrp="1"/>
          </p:cNvSpPr>
          <p:nvPr/>
        </p:nvSpPr>
        <p:spPr>
          <a:xfrm>
            <a:off x="619125" y="4867275"/>
            <a:ext cx="33813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C0C2"/>
                </a:solidFill>
                <a:latin typeface="Segoe UI"/>
                <a:ea typeface="Segoe UI"/>
                <a:cs typeface="Segoe UI"/>
              </a:rPr>
              <a:t>с готовыми материалами</a:t>
            </a:r>
          </a:p>
          <a:p>
            <a: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C0C2"/>
                </a:solidFill>
                <a:latin typeface="Segoe UI"/>
                <a:ea typeface="Segoe UI"/>
                <a:cs typeface="Segoe UI"/>
              </a:rPr>
              <a:t>в начальной копии проекта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13AF3A-99A7-4BD3-A1C9-E9D0EE9657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28" r="6628" b="12000"/>
          <a:stretch/>
        </p:blipFill>
        <p:spPr>
          <a:xfrm>
            <a:off x="4476750" y="1866900"/>
            <a:ext cx="5286375" cy="3724275"/>
          </a:xfrm>
          <a:prstGeom prst="roundRect">
            <a:avLst>
              <a:gd name="adj" fmla="val 3069"/>
            </a:avLst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29DE524-B0B1-4609-809A-02CF0E5A4F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887052" y="1866900"/>
            <a:ext cx="1685722" cy="3648075"/>
          </a:xfrm>
          <a:prstGeom prst="roundRect">
            <a:avLst>
              <a:gd name="adj" fmla="val 6780"/>
            </a:avLst>
          </a:prstGeom>
        </p:spPr>
      </p:pic>
      <p:sp>
        <p:nvSpPr>
          <p:cNvPr id="11" name="Компьютер и телефон">
            <a:extLst>
              <a:ext uri="{FF2B5EF4-FFF2-40B4-BE49-F238E27FC236}">
                <a16:creationId xmlns:a16="http://schemas.microsoft.com/office/drawing/2014/main" id="{9B719CA1-C262-47EE-99FC-A29E0C52882D}"/>
              </a:ext>
            </a:extLst>
          </p:cNvPr>
          <p:cNvSpPr>
            <a:spLocks noGrp="1"/>
          </p:cNvSpPr>
          <p:nvPr/>
        </p:nvSpPr>
        <p:spPr>
          <a:xfrm>
            <a:off x="4524375" y="5829300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1875" b="0">
                <a:solidFill>
                  <a:srgbClr val="B8C0C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C0C2"/>
                </a:solidFill>
                <a:latin typeface="Segoe UI"/>
                <a:ea typeface="Segoe UI"/>
                <a:cs typeface="Segoe UI"/>
              </a:rPr>
              <a:t>Компьютер и телефон</a:t>
            </a:r>
          </a:p>
        </p:txBody>
      </p:sp>
    </p:spTree>
    <p:extLst>
      <p:ext uri="{BB962C8B-B14F-4D97-AF65-F5344CB8AC3E}">
        <p14:creationId xmlns:p14="http://schemas.microsoft.com/office/powerpoint/2010/main" val="1057461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3A036E-7D2F-4BB8-B800-D09D86B63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План развития">
            <a:extLst>
              <a:ext uri="{FF2B5EF4-FFF2-40B4-BE49-F238E27FC236}">
                <a16:creationId xmlns:a16="http://schemas.microsoft.com/office/drawing/2014/main" id="{A8B303B1-9FE2-4FF2-9AF0-85444A90AA56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450" b="1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План развития</a:t>
            </a:r>
          </a:p>
        </p:txBody>
      </p:sp>
      <p:sp>
        <p:nvSpPr>
          <p:cNvPr id="3" name="Редактирование транскрипта">
            <a:extLst>
              <a:ext uri="{FF2B5EF4-FFF2-40B4-BE49-F238E27FC236}">
                <a16:creationId xmlns:a16="http://schemas.microsoft.com/office/drawing/2014/main" id="{E1529136-0E0D-483B-A66B-F219B8427775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Редактирование транскрипта</a:t>
            </a:r>
          </a:p>
        </p:txBody>
      </p:sp>
      <p:sp>
        <p:nvSpPr>
          <p:cNvPr id="4" name="Исправлять распознанные слова&#10;прямо на страни">
            <a:extLst>
              <a:ext uri="{FF2B5EF4-FFF2-40B4-BE49-F238E27FC236}">
                <a16:creationId xmlns:a16="http://schemas.microsoft.com/office/drawing/2014/main" id="{167562C1-9EB8-4E81-95F7-9334AA294ABE}"/>
              </a:ext>
            </a:extLst>
          </p:cNvPr>
          <p:cNvSpPr>
            <a:spLocks noGrp="1"/>
          </p:cNvSpPr>
          <p:nvPr/>
        </p:nvSpPr>
        <p:spPr>
          <a:xfrm>
            <a:off x="619125" y="2276475"/>
            <a:ext cx="5238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Исправлять распознанные слова</a:t>
            </a:r>
          </a:p>
          <a:p>
            <a: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прямо на странице лекции.</a:t>
            </a:r>
          </a:p>
        </p:txBody>
      </p:sp>
      <p:sp>
        <p:nvSpPr>
          <p:cNvPr id="5" name="Проверка большого каталога">
            <a:extLst>
              <a:ext uri="{FF2B5EF4-FFF2-40B4-BE49-F238E27FC236}">
                <a16:creationId xmlns:a16="http://schemas.microsoft.com/office/drawing/2014/main" id="{24B5C791-2EAF-4332-9479-7A3CF6D97DEC}"/>
              </a:ext>
            </a:extLst>
          </p:cNvPr>
          <p:cNvSpPr>
            <a:spLocks noGrp="1"/>
          </p:cNvSpPr>
          <p:nvPr/>
        </p:nvSpPr>
        <p:spPr>
          <a:xfrm>
            <a:off x="619125" y="321945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Проверка большого каталога</a:t>
            </a:r>
          </a:p>
        </p:txBody>
      </p:sp>
      <p:sp>
        <p:nvSpPr>
          <p:cNvPr id="6" name="Оценить поиск на разных предметах&#10;и записях с">
            <a:extLst>
              <a:ext uri="{FF2B5EF4-FFF2-40B4-BE49-F238E27FC236}">
                <a16:creationId xmlns:a16="http://schemas.microsoft.com/office/drawing/2014/main" id="{F208E171-9266-494C-911B-BDD114E99F22}"/>
              </a:ext>
            </a:extLst>
          </p:cNvPr>
          <p:cNvSpPr>
            <a:spLocks noGrp="1"/>
          </p:cNvSpPr>
          <p:nvPr/>
        </p:nvSpPr>
        <p:spPr>
          <a:xfrm>
            <a:off x="619125" y="3686175"/>
            <a:ext cx="5238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Оценить поиск на разных предметах</a:t>
            </a:r>
          </a:p>
          <a:p>
            <a: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и записях с разным качеством звука.</a:t>
            </a:r>
          </a:p>
        </p:txBody>
      </p:sp>
      <p:sp>
        <p:nvSpPr>
          <p:cNvPr id="7" name="Ускорение на GPU">
            <a:extLst>
              <a:ext uri="{FF2B5EF4-FFF2-40B4-BE49-F238E27FC236}">
                <a16:creationId xmlns:a16="http://schemas.microsoft.com/office/drawing/2014/main" id="{51442124-F3B1-43C1-9413-85260D0D33BD}"/>
              </a:ext>
            </a:extLst>
          </p:cNvPr>
          <p:cNvSpPr>
            <a:spLocks noGrp="1"/>
          </p:cNvSpPr>
          <p:nvPr/>
        </p:nvSpPr>
        <p:spPr>
          <a:xfrm>
            <a:off x="619125" y="462915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1">
                <a:solidFill>
                  <a:srgbClr val="52757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527575"/>
                </a:solidFill>
                <a:latin typeface="Segoe UI"/>
                <a:ea typeface="Segoe UI"/>
                <a:cs typeface="Segoe UI"/>
              </a:rPr>
              <a:t>Ускорение на GPU</a:t>
            </a:r>
          </a:p>
        </p:txBody>
      </p:sp>
      <p:sp>
        <p:nvSpPr>
          <p:cNvPr id="8" name="Проверить ускорение распознавания&#10;длинных вид">
            <a:extLst>
              <a:ext uri="{FF2B5EF4-FFF2-40B4-BE49-F238E27FC236}">
                <a16:creationId xmlns:a16="http://schemas.microsoft.com/office/drawing/2014/main" id="{0E20EC04-80F1-490C-A4A7-9B5A28D352EE}"/>
              </a:ext>
            </a:extLst>
          </p:cNvPr>
          <p:cNvSpPr>
            <a:spLocks noGrp="1"/>
          </p:cNvSpPr>
          <p:nvPr/>
        </p:nvSpPr>
        <p:spPr>
          <a:xfrm>
            <a:off x="619125" y="5095875"/>
            <a:ext cx="5238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Проверить ускорение распознавания</a:t>
            </a:r>
          </a:p>
          <a:p>
            <a:pPr>
              <a:defRPr sz="1875" b="0">
                <a:solidFill>
                  <a:srgbClr val="11182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длинных видео.</a:t>
            </a:r>
          </a:p>
        </p:txBody>
      </p:sp>
      <p:sp>
        <p:nvSpPr>
          <p:cNvPr id="9" name="12">
            <a:extLst>
              <a:ext uri="{FF2B5EF4-FFF2-40B4-BE49-F238E27FC236}">
                <a16:creationId xmlns:a16="http://schemas.microsoft.com/office/drawing/2014/main" id="{605263F2-1405-449F-BD8F-5B473B737F20}"/>
              </a:ext>
            </a:extLst>
          </p:cNvPr>
          <p:cNvSpPr>
            <a:spLocks noGrp="1"/>
          </p:cNvSpPr>
          <p:nvPr/>
        </p:nvSpPr>
        <p:spPr>
          <a:xfrm>
            <a:off x="11334750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defPPr>
            <a:lvl1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1pPr>
            <a:lvl2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2pPr>
            <a:lvl3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3pPr>
            <a:lvl4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4pPr>
            <a:lvl5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5pPr>
            <a:lvl6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6pPr>
            <a:lvl7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7pPr>
            <a:lvl8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8pPr>
            <a:lvl9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200" b="0">
                <a:solidFill>
                  <a:srgbClr val="8B949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8B9496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68685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A181482-B0E0-4BC2-9CD2-A67F86347F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C0646E-FA64-440A-B310-EBAA635175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5734" y="419100"/>
            <a:ext cx="2850931" cy="952500"/>
          </a:xfrm>
          <a:prstGeom prst="rect">
            <a:avLst/>
          </a:prstGeom>
        </p:spPr>
      </p:pic>
      <p:sp>
        <p:nvSpPr>
          <p:cNvPr id="4" name="Демонстрация&#10;проекта">
            <a:extLst>
              <a:ext uri="{FF2B5EF4-FFF2-40B4-BE49-F238E27FC236}">
                <a16:creationId xmlns:a16="http://schemas.microsoft.com/office/drawing/2014/main" id="{726E2E7A-89B7-423C-859F-3CDD6489A30B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59055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8F6F1"/>
                </a:solidFill>
                <a:latin typeface="Segoe UI"/>
                <a:ea typeface="Segoe UI"/>
                <a:cs typeface="Segoe UI"/>
              </a:rPr>
              <a:t>Демонстрация</a:t>
            </a:r>
          </a:p>
          <a:p>
            <a:pPr>
              <a:buNone/>
              <a:defRPr sz="4350" b="1">
                <a:solidFill>
                  <a:srgbClr val="F8F6F1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8F6F1"/>
                </a:solidFill>
                <a:latin typeface="Segoe UI"/>
                <a:ea typeface="Segoe UI"/>
                <a:cs typeface="Segoe UI"/>
              </a:rPr>
              <a:t>проекта</a:t>
            </a:r>
          </a:p>
        </p:txBody>
      </p:sp>
      <p:sp>
        <p:nvSpPr>
          <p:cNvPr id="5" name="1  Вопрос своими словами&#10;2  Переход к моменту">
            <a:extLst>
              <a:ext uri="{FF2B5EF4-FFF2-40B4-BE49-F238E27FC236}">
                <a16:creationId xmlns:a16="http://schemas.microsoft.com/office/drawing/2014/main" id="{617BC10D-7EB9-4496-A2CC-5C281CB91D1F}"/>
              </a:ext>
            </a:extLst>
          </p:cNvPr>
          <p:cNvSpPr>
            <a:spLocks noGrp="1"/>
          </p:cNvSpPr>
          <p:nvPr/>
        </p:nvSpPr>
        <p:spPr>
          <a:xfrm>
            <a:off x="638175" y="3829050"/>
            <a:ext cx="59055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D4D7D7"/>
                </a:solidFill>
                <a:latin typeface="Segoe UI"/>
                <a:ea typeface="Segoe UI"/>
                <a:cs typeface="Segoe UI"/>
              </a:rPr>
              <a:t>1  Вопрос своими словами</a:t>
            </a:r>
          </a:p>
          <a:p>
            <a: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D4D7D7"/>
                </a:solidFill>
                <a:latin typeface="Segoe UI"/>
                <a:ea typeface="Segoe UI"/>
                <a:cs typeface="Segoe UI"/>
              </a:rPr>
              <a:t>2  Переход к моменту лекции</a:t>
            </a:r>
          </a:p>
          <a:p>
            <a:pPr>
              <a:buNone/>
              <a:defRPr sz="2100" b="0">
                <a:solidFill>
                  <a:srgbClr val="D4D7D7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D4D7D7"/>
                </a:solidFill>
                <a:latin typeface="Segoe UI"/>
                <a:ea typeface="Segoe UI"/>
                <a:cs typeface="Segoe UI"/>
              </a:rPr>
              <a:t>3  Заметка в личной библиотеке</a:t>
            </a:r>
          </a:p>
        </p:txBody>
      </p:sp>
      <p:sp>
        <p:nvSpPr>
          <p:cNvPr id="6" name="github.com/aerade/product2">
            <a:extLst>
              <a:ext uri="{FF2B5EF4-FFF2-40B4-BE49-F238E27FC236}">
                <a16:creationId xmlns:a16="http://schemas.microsoft.com/office/drawing/2014/main" id="{6A7FE3C8-0FFC-42A7-8431-12141CD66C0A}"/>
              </a:ext>
            </a:extLst>
          </p:cNvPr>
          <p:cNvSpPr>
            <a:spLocks noGrp="1"/>
          </p:cNvSpPr>
          <p:nvPr/>
        </p:nvSpPr>
        <p:spPr>
          <a:xfrm>
            <a:off x="638175" y="590550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defPPr>
            <a:lvl1pPr>
              <a:buNone/>
              <a:defRPr sz="2175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 sz="2175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 sz="2175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 sz="2175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 sz="2175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5pPr>
            <a:lvl6pPr>
              <a:buNone/>
              <a:defRPr sz="2175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6pPr>
            <a:lvl7pPr>
              <a:buNone/>
              <a:defRPr sz="2175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7pPr>
            <a:lvl8pPr>
              <a:buNone/>
              <a:defRPr sz="2175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8pPr>
            <a:lvl9pPr>
              <a:buNone/>
              <a:defRPr sz="2175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buNone/>
              <a:defRPr sz="2175" b="1">
                <a:solidFill>
                  <a:srgbClr val="E78A5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E78A53"/>
                </a:solidFill>
                <a:latin typeface="Segoe UI"/>
                <a:ea typeface="Segoe UI"/>
                <a:cs typeface="Segoe UI"/>
                <a:hlinkClick r:id="rId5"/>
              </a:rPr>
              <a:t>github.com/aerade/product2</a:t>
            </a:r>
          </a:p>
        </p:txBody>
      </p:sp>
    </p:spTree>
    <p:extLst>
      <p:ext uri="{BB962C8B-B14F-4D97-AF65-F5344CB8AC3E}">
        <p14:creationId xmlns:p14="http://schemas.microsoft.com/office/powerpoint/2010/main" val="18212032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1066</Words>
  <Application>Microsoft Office PowerPoint</Application>
  <DocSecurity>0</DocSecurity>
  <PresentationFormat>Широкоэкранный</PresentationFormat>
  <Paragraphs>129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Segoe UI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ade ⠀</cp:lastModifiedBy>
  <cp:revision>1</cp:revision>
  <dcterms:created xsi:type="dcterms:W3CDTF">2026-10-28T03:05:42Z</dcterms:created>
  <dcterms:modified xsi:type="dcterms:W3CDTF">2026-10-28T03:10:16Z</dcterms:modified>
</cp:coreProperties>
</file>